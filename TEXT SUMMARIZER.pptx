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6858000" cy="9144000"/>
  <p:embeddedFontLst>
    <p:embeddedFont>
      <p:font typeface="Play" panose="020B0604020202020204" charset="0"/>
      <p:regular r:id="rId17"/>
      <p:bold r:id="rId1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1088b27c07a_0_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1088b27c07a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4800" algn="just" rtl="0">
              <a:lnSpc>
                <a:spcPct val="115000"/>
              </a:lnSpc>
              <a:spcBef>
                <a:spcPts val="0"/>
              </a:spcBef>
              <a:spcAft>
                <a:spcPts val="0"/>
              </a:spcAft>
              <a:buClr>
                <a:srgbClr val="111111"/>
              </a:buClr>
              <a:buSzPts val="1200"/>
              <a:buFont typeface="Play"/>
              <a:buChar char="●"/>
            </a:pPr>
            <a:r>
              <a:rPr lang="en-GB" sz="1200">
                <a:solidFill>
                  <a:srgbClr val="111111"/>
                </a:solidFill>
                <a:highlight>
                  <a:srgbClr val="FFFFFF"/>
                </a:highlight>
                <a:latin typeface="Play"/>
                <a:ea typeface="Play"/>
                <a:cs typeface="Play"/>
                <a:sym typeface="Play"/>
              </a:rPr>
              <a:t>When you open news sites, do you just start reading every news article? Probably not. We typically glance the short news summary and then read more details if interested. Short, informative summaries of the news is now everywhere like magazines, news aggregator apps, research sites, etc.</a:t>
            </a:r>
            <a:endParaRPr sz="1200">
              <a:solidFill>
                <a:srgbClr val="111111"/>
              </a:solidFill>
              <a:highlight>
                <a:srgbClr val="FFFFFF"/>
              </a:highlight>
              <a:latin typeface="Play"/>
              <a:ea typeface="Play"/>
              <a:cs typeface="Play"/>
              <a:sym typeface="Play"/>
            </a:endParaRPr>
          </a:p>
          <a:p>
            <a:pPr marL="457200" lvl="0" indent="-304800" algn="just" rtl="0">
              <a:lnSpc>
                <a:spcPct val="115000"/>
              </a:lnSpc>
              <a:spcBef>
                <a:spcPts val="0"/>
              </a:spcBef>
              <a:spcAft>
                <a:spcPts val="0"/>
              </a:spcAft>
              <a:buClr>
                <a:srgbClr val="111111"/>
              </a:buClr>
              <a:buSzPts val="1200"/>
              <a:buFont typeface="Play"/>
              <a:buChar char="●"/>
            </a:pPr>
            <a:r>
              <a:rPr lang="en-GB" sz="1200">
                <a:solidFill>
                  <a:srgbClr val="111111"/>
                </a:solidFill>
                <a:highlight>
                  <a:srgbClr val="FFFFFF"/>
                </a:highlight>
                <a:latin typeface="Play"/>
                <a:ea typeface="Play"/>
                <a:cs typeface="Play"/>
                <a:sym typeface="Play"/>
              </a:rPr>
              <a:t>Well, It is possible to create the summaries automatically as the news comes in from various sources around the world.</a:t>
            </a:r>
            <a:endParaRPr sz="1200">
              <a:solidFill>
                <a:srgbClr val="111111"/>
              </a:solidFill>
              <a:highlight>
                <a:srgbClr val="FFFFFF"/>
              </a:highlight>
              <a:latin typeface="Play"/>
              <a:ea typeface="Play"/>
              <a:cs typeface="Play"/>
              <a:sym typeface="Play"/>
            </a:endParaRPr>
          </a:p>
          <a:p>
            <a:pPr marL="457200" lvl="0" indent="-304800" algn="just" rtl="0">
              <a:lnSpc>
                <a:spcPct val="115000"/>
              </a:lnSpc>
              <a:spcBef>
                <a:spcPts val="0"/>
              </a:spcBef>
              <a:spcAft>
                <a:spcPts val="0"/>
              </a:spcAft>
              <a:buClr>
                <a:srgbClr val="111111"/>
              </a:buClr>
              <a:buSzPts val="1200"/>
              <a:buFont typeface="Play"/>
              <a:buChar char="●"/>
            </a:pPr>
            <a:r>
              <a:rPr lang="en-GB" sz="1200">
                <a:solidFill>
                  <a:srgbClr val="111111"/>
                </a:solidFill>
                <a:highlight>
                  <a:srgbClr val="FFFFFF"/>
                </a:highlight>
                <a:latin typeface="Play"/>
                <a:ea typeface="Play"/>
                <a:cs typeface="Play"/>
                <a:sym typeface="Play"/>
              </a:rPr>
              <a:t>The method of extracting these summaries from the original huge text without losing vital information is called as Text Summarization. It is essential for the summary to be a fluent, continuous and depict the significant.</a:t>
            </a:r>
            <a:endParaRPr sz="1200">
              <a:solidFill>
                <a:srgbClr val="111111"/>
              </a:solidFill>
              <a:highlight>
                <a:srgbClr val="FFFFFF"/>
              </a:highlight>
              <a:latin typeface="Play"/>
              <a:ea typeface="Play"/>
              <a:cs typeface="Play"/>
              <a:sym typeface="Play"/>
            </a:endParaRPr>
          </a:p>
          <a:p>
            <a:pPr marL="457200" lvl="0" indent="-304800" algn="just" rtl="0">
              <a:lnSpc>
                <a:spcPct val="115000"/>
              </a:lnSpc>
              <a:spcBef>
                <a:spcPts val="0"/>
              </a:spcBef>
              <a:spcAft>
                <a:spcPts val="0"/>
              </a:spcAft>
              <a:buClr>
                <a:srgbClr val="111111"/>
              </a:buClr>
              <a:buSzPts val="1200"/>
              <a:buFont typeface="Play"/>
              <a:buChar char="●"/>
            </a:pPr>
            <a:r>
              <a:rPr lang="en-GB" sz="1200">
                <a:solidFill>
                  <a:srgbClr val="111111"/>
                </a:solidFill>
                <a:highlight>
                  <a:srgbClr val="FFFFFF"/>
                </a:highlight>
                <a:latin typeface="Play"/>
                <a:ea typeface="Play"/>
                <a:cs typeface="Play"/>
                <a:sym typeface="Play"/>
              </a:rPr>
              <a:t>In fact, the google news, the inshorts app and various other news aggregator apps take advantage of text summarization algorithms</a:t>
            </a:r>
            <a:endParaRPr sz="1200">
              <a:solidFill>
                <a:srgbClr val="111111"/>
              </a:solidFill>
              <a:highlight>
                <a:srgbClr val="FFFFFF"/>
              </a:highlight>
              <a:latin typeface="Play"/>
              <a:ea typeface="Play"/>
              <a:cs typeface="Play"/>
              <a:sym typeface="Play"/>
            </a:endParaRPr>
          </a:p>
          <a:p>
            <a:pPr marL="0" lvl="0" indent="0" algn="l" rtl="0">
              <a:spcBef>
                <a:spcPts val="210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1088b27c07a_0_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1088b27c07a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4800" algn="just" rtl="0">
              <a:lnSpc>
                <a:spcPct val="100000"/>
              </a:lnSpc>
              <a:spcBef>
                <a:spcPts val="1400"/>
              </a:spcBef>
              <a:spcAft>
                <a:spcPts val="0"/>
              </a:spcAft>
              <a:buClr>
                <a:srgbClr val="292929"/>
              </a:buClr>
              <a:buSzPts val="1200"/>
              <a:buFont typeface="Play"/>
              <a:buChar char="●"/>
            </a:pPr>
            <a:r>
              <a:rPr lang="en-GB" sz="1200">
                <a:solidFill>
                  <a:srgbClr val="292929"/>
                </a:solidFill>
                <a:highlight>
                  <a:srgbClr val="FFFFFF"/>
                </a:highlight>
                <a:latin typeface="Play"/>
                <a:ea typeface="Play"/>
                <a:cs typeface="Play"/>
                <a:sym typeface="Play"/>
              </a:rPr>
              <a:t>Propelled by the modern technological innovations, data is to this century what oil was to the previous one. Today, our world is parachuted by the gathering and dissemination of huge amounts of data.</a:t>
            </a:r>
            <a:endParaRPr sz="1200">
              <a:solidFill>
                <a:srgbClr val="292929"/>
              </a:solidFill>
              <a:highlight>
                <a:srgbClr val="FFFFFF"/>
              </a:highlight>
              <a:latin typeface="Play"/>
              <a:ea typeface="Play"/>
              <a:cs typeface="Play"/>
              <a:sym typeface="Play"/>
            </a:endParaRPr>
          </a:p>
          <a:p>
            <a:pPr marL="457200" lvl="0" indent="-304800" algn="just" rtl="0">
              <a:lnSpc>
                <a:spcPct val="100000"/>
              </a:lnSpc>
              <a:spcBef>
                <a:spcPts val="0"/>
              </a:spcBef>
              <a:spcAft>
                <a:spcPts val="0"/>
              </a:spcAft>
              <a:buClr>
                <a:srgbClr val="292929"/>
              </a:buClr>
              <a:buSzPts val="1200"/>
              <a:buFont typeface="Play"/>
              <a:buChar char="●"/>
            </a:pPr>
            <a:r>
              <a:rPr lang="en-GB" sz="1200">
                <a:solidFill>
                  <a:srgbClr val="292929"/>
                </a:solidFill>
                <a:highlight>
                  <a:srgbClr val="FFFFFF"/>
                </a:highlight>
                <a:latin typeface="Play"/>
                <a:ea typeface="Play"/>
                <a:cs typeface="Play"/>
                <a:sym typeface="Play"/>
              </a:rPr>
              <a:t>In fact, the International Data Corporation (IDC) projects that the total amount of digital data circulating annually around the world would sprout from 4.4 zettabytes in 2013 to hit 180 zettabytes in 2025. That’s a lot of data!</a:t>
            </a:r>
            <a:endParaRPr sz="1200">
              <a:solidFill>
                <a:srgbClr val="292929"/>
              </a:solidFill>
              <a:highlight>
                <a:srgbClr val="FFFFFF"/>
              </a:highlight>
              <a:latin typeface="Play"/>
              <a:ea typeface="Play"/>
              <a:cs typeface="Play"/>
              <a:sym typeface="Play"/>
            </a:endParaRPr>
          </a:p>
          <a:p>
            <a:pPr marL="457200" lvl="0" indent="-304800" algn="just" rtl="0">
              <a:lnSpc>
                <a:spcPct val="100000"/>
              </a:lnSpc>
              <a:spcBef>
                <a:spcPts val="0"/>
              </a:spcBef>
              <a:spcAft>
                <a:spcPts val="0"/>
              </a:spcAft>
              <a:buClr>
                <a:srgbClr val="292929"/>
              </a:buClr>
              <a:buSzPts val="1200"/>
              <a:buFont typeface="Play"/>
              <a:buChar char="●"/>
            </a:pPr>
            <a:r>
              <a:rPr lang="en-GB" sz="1200">
                <a:solidFill>
                  <a:srgbClr val="292929"/>
                </a:solidFill>
                <a:highlight>
                  <a:srgbClr val="FFFFFF"/>
                </a:highlight>
                <a:latin typeface="Play"/>
                <a:ea typeface="Play"/>
                <a:cs typeface="Play"/>
                <a:sym typeface="Play"/>
              </a:rPr>
              <a:t>With such a big amount of data circulating in the digital space, there is need to develop machine learning algorithms that can automatically shorten longer texts and deliver accurate summaries that can fluently pass the intended messages.</a:t>
            </a:r>
            <a:endParaRPr sz="1200">
              <a:solidFill>
                <a:srgbClr val="292929"/>
              </a:solidFill>
              <a:highlight>
                <a:srgbClr val="FFFFFF"/>
              </a:highlight>
              <a:latin typeface="Play"/>
              <a:ea typeface="Play"/>
              <a:cs typeface="Play"/>
              <a:sym typeface="Play"/>
            </a:endParaRPr>
          </a:p>
          <a:p>
            <a:pPr marL="457200" lvl="0" indent="-304800" algn="just" rtl="0">
              <a:lnSpc>
                <a:spcPct val="100000"/>
              </a:lnSpc>
              <a:spcBef>
                <a:spcPts val="0"/>
              </a:spcBef>
              <a:spcAft>
                <a:spcPts val="0"/>
              </a:spcAft>
              <a:buClr>
                <a:srgbClr val="292929"/>
              </a:buClr>
              <a:buSzPts val="1200"/>
              <a:buFont typeface="Play"/>
              <a:buChar char="●"/>
            </a:pPr>
            <a:r>
              <a:rPr lang="en-GB" sz="1200">
                <a:solidFill>
                  <a:srgbClr val="292929"/>
                </a:solidFill>
                <a:highlight>
                  <a:srgbClr val="FFFFFF"/>
                </a:highlight>
                <a:latin typeface="Play"/>
                <a:ea typeface="Play"/>
                <a:cs typeface="Play"/>
                <a:sym typeface="Play"/>
              </a:rPr>
              <a:t>Furthermore, applying text summarization reduces reading time, accelerates the process of researching for information, and increases the amount of information that can fit in an area.</a:t>
            </a:r>
            <a:endParaRPr sz="1200">
              <a:solidFill>
                <a:srgbClr val="292929"/>
              </a:solidFill>
              <a:highlight>
                <a:srgbClr val="FFFFFF"/>
              </a:highlight>
              <a:latin typeface="Play"/>
              <a:ea typeface="Play"/>
              <a:cs typeface="Play"/>
              <a:sym typeface="Play"/>
            </a:endParaRPr>
          </a:p>
          <a:p>
            <a:pPr marL="0" lvl="0" indent="0" algn="just" rtl="0">
              <a:lnSpc>
                <a:spcPct val="100000"/>
              </a:lnSpc>
              <a:spcBef>
                <a:spcPts val="0"/>
              </a:spcBef>
              <a:spcAft>
                <a:spcPts val="0"/>
              </a:spcAft>
              <a:buNone/>
            </a:pPr>
            <a:endParaRPr sz="1200">
              <a:latin typeface="Play"/>
              <a:ea typeface="Play"/>
              <a:cs typeface="Play"/>
              <a:sym typeface="Play"/>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1088b27c07a_0_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1088b27c07a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4800" algn="just" rtl="0">
              <a:spcBef>
                <a:spcPts val="0"/>
              </a:spcBef>
              <a:spcAft>
                <a:spcPts val="0"/>
              </a:spcAft>
              <a:buClr>
                <a:srgbClr val="292929"/>
              </a:buClr>
              <a:buSzPts val="1200"/>
              <a:buFont typeface="Play"/>
              <a:buChar char="●"/>
            </a:pPr>
            <a:r>
              <a:rPr lang="en-GB" sz="1200">
                <a:solidFill>
                  <a:srgbClr val="292929"/>
                </a:solidFill>
                <a:highlight>
                  <a:srgbClr val="FFFFFF"/>
                </a:highlight>
                <a:latin typeface="Play"/>
                <a:ea typeface="Play"/>
                <a:cs typeface="Play"/>
                <a:sym typeface="Play"/>
              </a:rPr>
              <a:t>Usually, text summarization in NLP is treated as a supervised machine learning problem (where future outcomes are predicted based on provided data).</a:t>
            </a:r>
            <a:endParaRPr sz="1200">
              <a:latin typeface="Play"/>
              <a:ea typeface="Play"/>
              <a:cs typeface="Play"/>
              <a:sym typeface="Play"/>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1088b27c07a_0_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1088b27c07a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1088b27c07a_0_5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1088b27c07a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1088b27c07a_0_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1088b27c07a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1088b27c07a_0_1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1088b27c07a_0_1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1088b27c07a_0_7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1088b27c07a_0_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1088b27c07a_0_8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1088b27c07a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4800" algn="just" rtl="0">
              <a:lnSpc>
                <a:spcPct val="115000"/>
              </a:lnSpc>
              <a:spcBef>
                <a:spcPts val="0"/>
              </a:spcBef>
              <a:spcAft>
                <a:spcPts val="0"/>
              </a:spcAft>
              <a:buSzPts val="1200"/>
              <a:buFont typeface="Play"/>
              <a:buChar char="●"/>
            </a:pPr>
            <a:r>
              <a:rPr lang="en-GB" sz="1200">
                <a:solidFill>
                  <a:srgbClr val="051E50"/>
                </a:solidFill>
                <a:highlight>
                  <a:srgbClr val="F8F9FA"/>
                </a:highlight>
                <a:latin typeface="Play"/>
                <a:ea typeface="Play"/>
                <a:cs typeface="Play"/>
                <a:sym typeface="Play"/>
              </a:rPr>
              <a:t>gensim</a:t>
            </a:r>
            <a:r>
              <a:rPr lang="en-GB" sz="1200">
                <a:solidFill>
                  <a:srgbClr val="111111"/>
                </a:solidFill>
                <a:highlight>
                  <a:srgbClr val="FFFFFF"/>
                </a:highlight>
                <a:latin typeface="Play"/>
                <a:ea typeface="Play"/>
                <a:cs typeface="Play"/>
                <a:sym typeface="Play"/>
              </a:rPr>
              <a:t> is a very handy python library for performing NLP tasks. The text summarization process using </a:t>
            </a:r>
            <a:r>
              <a:rPr lang="en-GB" sz="1200">
                <a:solidFill>
                  <a:srgbClr val="051E50"/>
                </a:solidFill>
                <a:highlight>
                  <a:srgbClr val="F8F9FA"/>
                </a:highlight>
                <a:latin typeface="Play"/>
                <a:ea typeface="Play"/>
                <a:cs typeface="Play"/>
                <a:sym typeface="Play"/>
              </a:rPr>
              <a:t>gensim</a:t>
            </a:r>
            <a:r>
              <a:rPr lang="en-GB" sz="1200">
                <a:solidFill>
                  <a:srgbClr val="111111"/>
                </a:solidFill>
                <a:highlight>
                  <a:srgbClr val="FFFFFF"/>
                </a:highlight>
                <a:latin typeface="Play"/>
                <a:ea typeface="Play"/>
                <a:cs typeface="Play"/>
                <a:sym typeface="Play"/>
              </a:rPr>
              <a:t> library is based on TextRank Algorithm</a:t>
            </a:r>
            <a:endParaRPr sz="1200">
              <a:solidFill>
                <a:srgbClr val="111111"/>
              </a:solidFill>
              <a:highlight>
                <a:srgbClr val="FFFFFF"/>
              </a:highlight>
              <a:latin typeface="Play"/>
              <a:ea typeface="Play"/>
              <a:cs typeface="Play"/>
              <a:sym typeface="Play"/>
            </a:endParaRPr>
          </a:p>
          <a:p>
            <a:pPr marL="457200" lvl="0" indent="-304800" algn="just" rtl="0">
              <a:lnSpc>
                <a:spcPct val="115000"/>
              </a:lnSpc>
              <a:spcBef>
                <a:spcPts val="0"/>
              </a:spcBef>
              <a:spcAft>
                <a:spcPts val="0"/>
              </a:spcAft>
              <a:buSzPts val="1200"/>
              <a:buFont typeface="Play"/>
              <a:buChar char="●"/>
            </a:pPr>
            <a:r>
              <a:rPr lang="en-GB" sz="1200">
                <a:solidFill>
                  <a:srgbClr val="111111"/>
                </a:solidFill>
                <a:highlight>
                  <a:srgbClr val="FFFFFF"/>
                </a:highlight>
                <a:latin typeface="Play"/>
                <a:ea typeface="Play"/>
                <a:cs typeface="Play"/>
                <a:sym typeface="Play"/>
              </a:rPr>
              <a:t>What is TextRank algorithm?</a:t>
            </a:r>
            <a:endParaRPr sz="1200">
              <a:solidFill>
                <a:srgbClr val="111111"/>
              </a:solidFill>
              <a:highlight>
                <a:srgbClr val="FFFFFF"/>
              </a:highlight>
              <a:latin typeface="Play"/>
              <a:ea typeface="Play"/>
              <a:cs typeface="Play"/>
              <a:sym typeface="Play"/>
            </a:endParaRPr>
          </a:p>
          <a:p>
            <a:pPr marL="457200" lvl="0" indent="-304800" algn="just" rtl="0">
              <a:lnSpc>
                <a:spcPct val="115000"/>
              </a:lnSpc>
              <a:spcBef>
                <a:spcPts val="0"/>
              </a:spcBef>
              <a:spcAft>
                <a:spcPts val="0"/>
              </a:spcAft>
              <a:buSzPts val="1200"/>
              <a:buFont typeface="Play"/>
              <a:buChar char="●"/>
            </a:pPr>
            <a:r>
              <a:rPr lang="en-GB" sz="1200">
                <a:solidFill>
                  <a:srgbClr val="111111"/>
                </a:solidFill>
                <a:highlight>
                  <a:srgbClr val="FFFFFF"/>
                </a:highlight>
                <a:latin typeface="Play"/>
                <a:ea typeface="Play"/>
                <a:cs typeface="Play"/>
                <a:sym typeface="Play"/>
              </a:rPr>
              <a:t>TextRank is an extractive summarization technique. It is based on the concept that words which occur more frequently are significant. Hence , the sentences containing highly frequent words are important.</a:t>
            </a:r>
            <a:endParaRPr sz="1200">
              <a:solidFill>
                <a:srgbClr val="111111"/>
              </a:solidFill>
              <a:highlight>
                <a:srgbClr val="FFFFFF"/>
              </a:highlight>
              <a:latin typeface="Play"/>
              <a:ea typeface="Play"/>
              <a:cs typeface="Play"/>
              <a:sym typeface="Play"/>
            </a:endParaRPr>
          </a:p>
          <a:p>
            <a:pPr marL="457200" lvl="0" indent="-304800" algn="just" rtl="0">
              <a:lnSpc>
                <a:spcPct val="115000"/>
              </a:lnSpc>
              <a:spcBef>
                <a:spcPts val="0"/>
              </a:spcBef>
              <a:spcAft>
                <a:spcPts val="0"/>
              </a:spcAft>
              <a:buSzPts val="1200"/>
              <a:buFont typeface="Play"/>
              <a:buChar char="●"/>
            </a:pPr>
            <a:r>
              <a:rPr lang="en-GB" sz="1200">
                <a:solidFill>
                  <a:srgbClr val="111111"/>
                </a:solidFill>
                <a:highlight>
                  <a:srgbClr val="FFFFFF"/>
                </a:highlight>
                <a:latin typeface="Play"/>
                <a:ea typeface="Play"/>
                <a:cs typeface="Play"/>
                <a:sym typeface="Play"/>
              </a:rPr>
              <a:t>Based on this , the algorithm assigns scores to each sentence in the text . The top-ranked sentences make it to the summary.</a:t>
            </a:r>
            <a:endParaRPr sz="1200">
              <a:solidFill>
                <a:srgbClr val="111111"/>
              </a:solidFill>
              <a:highlight>
                <a:srgbClr val="FFFFFF"/>
              </a:highlight>
              <a:latin typeface="Play"/>
              <a:ea typeface="Play"/>
              <a:cs typeface="Play"/>
              <a:sym typeface="Play"/>
            </a:endParaRPr>
          </a:p>
          <a:p>
            <a:pPr marL="0" lvl="0" indent="0" algn="just" rtl="0">
              <a:spcBef>
                <a:spcPts val="2100"/>
              </a:spcBef>
              <a:spcAft>
                <a:spcPts val="0"/>
              </a:spcAft>
              <a:buNone/>
            </a:pPr>
            <a:endParaRPr sz="1200">
              <a:latin typeface="Play"/>
              <a:ea typeface="Play"/>
              <a:cs typeface="Play"/>
              <a:sym typeface="Play"/>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1088b27c07a_0_8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1088b27c07a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1088b27c07a_0_9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1088b27c07a_0_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1088b27c07a_0_10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1088b27c07a_0_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4800" algn="just" rtl="0">
              <a:lnSpc>
                <a:spcPct val="115000"/>
              </a:lnSpc>
              <a:spcBef>
                <a:spcPts val="0"/>
              </a:spcBef>
              <a:spcAft>
                <a:spcPts val="0"/>
              </a:spcAft>
              <a:buClr>
                <a:srgbClr val="111111"/>
              </a:buClr>
              <a:buSzPts val="1200"/>
              <a:buFont typeface="Play"/>
              <a:buChar char="●"/>
            </a:pPr>
            <a:r>
              <a:rPr lang="en-GB" sz="1200">
                <a:solidFill>
                  <a:srgbClr val="111111"/>
                </a:solidFill>
                <a:highlight>
                  <a:srgbClr val="FFFFFF"/>
                </a:highlight>
                <a:latin typeface="Play"/>
                <a:ea typeface="Play"/>
                <a:cs typeface="Play"/>
                <a:sym typeface="Play"/>
              </a:rPr>
              <a:t>A sentence which is similar to many other sentences of the text has a high probability of being important. The approach of LexRank is that a particular sentence is recommended by other similar sentences and hence is ranked higher.</a:t>
            </a:r>
            <a:endParaRPr sz="1200">
              <a:solidFill>
                <a:srgbClr val="111111"/>
              </a:solidFill>
              <a:highlight>
                <a:srgbClr val="FFFFFF"/>
              </a:highlight>
              <a:latin typeface="Play"/>
              <a:ea typeface="Play"/>
              <a:cs typeface="Play"/>
              <a:sym typeface="Play"/>
            </a:endParaRPr>
          </a:p>
          <a:p>
            <a:pPr marL="457200" lvl="0" indent="-304800" algn="just" rtl="0">
              <a:lnSpc>
                <a:spcPct val="115000"/>
              </a:lnSpc>
              <a:spcBef>
                <a:spcPts val="0"/>
              </a:spcBef>
              <a:spcAft>
                <a:spcPts val="0"/>
              </a:spcAft>
              <a:buClr>
                <a:srgbClr val="111111"/>
              </a:buClr>
              <a:buSzPts val="1200"/>
              <a:buFont typeface="Play"/>
              <a:buChar char="●"/>
            </a:pPr>
            <a:r>
              <a:rPr lang="en-GB" sz="1200">
                <a:solidFill>
                  <a:srgbClr val="111111"/>
                </a:solidFill>
                <a:highlight>
                  <a:srgbClr val="FFFFFF"/>
                </a:highlight>
                <a:latin typeface="Play"/>
                <a:ea typeface="Play"/>
                <a:cs typeface="Play"/>
                <a:sym typeface="Play"/>
              </a:rPr>
              <a:t>Higher the rank, higher is the priority of being included in the summarized text.</a:t>
            </a:r>
            <a:endParaRPr sz="1200">
              <a:solidFill>
                <a:srgbClr val="111111"/>
              </a:solidFill>
              <a:highlight>
                <a:srgbClr val="FFFFFF"/>
              </a:highlight>
              <a:latin typeface="Play"/>
              <a:ea typeface="Play"/>
              <a:cs typeface="Play"/>
              <a:sym typeface="Play"/>
            </a:endParaRPr>
          </a:p>
          <a:p>
            <a:pPr marL="0" lvl="0" indent="0" algn="just" rtl="0">
              <a:spcBef>
                <a:spcPts val="2100"/>
              </a:spcBef>
              <a:spcAft>
                <a:spcPts val="0"/>
              </a:spcAft>
              <a:buNone/>
            </a:pPr>
            <a:endParaRPr sz="1200">
              <a:latin typeface="Play"/>
              <a:ea typeface="Play"/>
              <a:cs typeface="Play"/>
              <a:sym typeface="Play"/>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108a0b8a75c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108a0b8a75c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dk1"/>
              </a:buClr>
              <a:buSzPts val="1800"/>
              <a:buChar char="●"/>
              <a:defRPr>
                <a:solidFill>
                  <a:schemeClr val="dk1"/>
                </a:solidFill>
              </a:defRPr>
            </a:lvl1pPr>
            <a:lvl2pPr marL="914400" lvl="1" indent="-317500">
              <a:spcBef>
                <a:spcPts val="0"/>
              </a:spcBef>
              <a:spcAft>
                <a:spcPts val="0"/>
              </a:spcAft>
              <a:buClr>
                <a:schemeClr val="dk1"/>
              </a:buClr>
              <a:buSzPts val="1400"/>
              <a:buChar char="○"/>
              <a:defRPr>
                <a:solidFill>
                  <a:schemeClr val="dk1"/>
                </a:solidFill>
              </a:defRPr>
            </a:lvl2pPr>
            <a:lvl3pPr marL="1371600" lvl="2" indent="-317500">
              <a:spcBef>
                <a:spcPts val="0"/>
              </a:spcBef>
              <a:spcAft>
                <a:spcPts val="0"/>
              </a:spcAft>
              <a:buClr>
                <a:schemeClr val="dk1"/>
              </a:buClr>
              <a:buSzPts val="1400"/>
              <a:buChar char="■"/>
              <a:defRPr>
                <a:solidFill>
                  <a:schemeClr val="dk1"/>
                </a:solidFill>
              </a:defRPr>
            </a:lvl3pPr>
            <a:lvl4pPr marL="1828800" lvl="3" indent="-317500">
              <a:spcBef>
                <a:spcPts val="0"/>
              </a:spcBef>
              <a:spcAft>
                <a:spcPts val="0"/>
              </a:spcAft>
              <a:buClr>
                <a:schemeClr val="dk1"/>
              </a:buClr>
              <a:buSzPts val="1400"/>
              <a:buChar char="●"/>
              <a:defRPr>
                <a:solidFill>
                  <a:schemeClr val="dk1"/>
                </a:solidFill>
              </a:defRPr>
            </a:lvl4pPr>
            <a:lvl5pPr marL="2286000" lvl="4" indent="-317500">
              <a:spcBef>
                <a:spcPts val="0"/>
              </a:spcBef>
              <a:spcAft>
                <a:spcPts val="0"/>
              </a:spcAft>
              <a:buClr>
                <a:schemeClr val="dk1"/>
              </a:buClr>
              <a:buSzPts val="1400"/>
              <a:buChar char="○"/>
              <a:defRPr>
                <a:solidFill>
                  <a:schemeClr val="dk1"/>
                </a:solidFill>
              </a:defRPr>
            </a:lvl5pPr>
            <a:lvl6pPr marL="2743200" lvl="5" indent="-317500">
              <a:spcBef>
                <a:spcPts val="0"/>
              </a:spcBef>
              <a:spcAft>
                <a:spcPts val="0"/>
              </a:spcAft>
              <a:buClr>
                <a:schemeClr val="dk1"/>
              </a:buClr>
              <a:buSzPts val="1400"/>
              <a:buChar char="■"/>
              <a:defRPr>
                <a:solidFill>
                  <a:schemeClr val="dk1"/>
                </a:solidFill>
              </a:defRPr>
            </a:lvl6pPr>
            <a:lvl7pPr marL="3200400" lvl="6" indent="-317500">
              <a:spcBef>
                <a:spcPts val="0"/>
              </a:spcBef>
              <a:spcAft>
                <a:spcPts val="0"/>
              </a:spcAft>
              <a:buClr>
                <a:schemeClr val="dk1"/>
              </a:buClr>
              <a:buSzPts val="1400"/>
              <a:buChar char="●"/>
              <a:defRPr>
                <a:solidFill>
                  <a:schemeClr val="dk1"/>
                </a:solidFill>
              </a:defRPr>
            </a:lvl7pPr>
            <a:lvl8pPr marL="3657600" lvl="7" indent="-317500">
              <a:spcBef>
                <a:spcPts val="0"/>
              </a:spcBef>
              <a:spcAft>
                <a:spcPts val="0"/>
              </a:spcAft>
              <a:buClr>
                <a:schemeClr val="dk1"/>
              </a:buClr>
              <a:buSzPts val="1400"/>
              <a:buChar char="○"/>
              <a:defRPr>
                <a:solidFill>
                  <a:schemeClr val="dk1"/>
                </a:solidFill>
              </a:defRPr>
            </a:lvl8pPr>
            <a:lvl9pPr marL="4114800" lvl="8" indent="-317500">
              <a:spcBef>
                <a:spcPts val="0"/>
              </a:spcBef>
              <a:spcAft>
                <a:spcPts val="0"/>
              </a:spcAft>
              <a:buClr>
                <a:schemeClr val="dk1"/>
              </a:buClr>
              <a:buSzPts val="1400"/>
              <a:buChar char="■"/>
              <a:defRPr>
                <a:solidFill>
                  <a:schemeClr val="dk1"/>
                </a:solidFill>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dark-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lt2"/>
              </a:buClr>
              <a:buSzPts val="1800"/>
              <a:buChar char="●"/>
              <a:defRPr sz="1800">
                <a:solidFill>
                  <a:schemeClr val="lt2"/>
                </a:solidFill>
              </a:defRPr>
            </a:lvl1pPr>
            <a:lvl2pPr marL="914400" lvl="1" indent="-317500">
              <a:lnSpc>
                <a:spcPct val="115000"/>
              </a:lnSpc>
              <a:spcBef>
                <a:spcPts val="0"/>
              </a:spcBef>
              <a:spcAft>
                <a:spcPts val="0"/>
              </a:spcAft>
              <a:buClr>
                <a:schemeClr val="lt2"/>
              </a:buClr>
              <a:buSzPts val="1400"/>
              <a:buChar char="○"/>
              <a:defRPr>
                <a:solidFill>
                  <a:schemeClr val="lt2"/>
                </a:solidFill>
              </a:defRPr>
            </a:lvl2pPr>
            <a:lvl3pPr marL="1371600" lvl="2" indent="-317500">
              <a:lnSpc>
                <a:spcPct val="115000"/>
              </a:lnSpc>
              <a:spcBef>
                <a:spcPts val="0"/>
              </a:spcBef>
              <a:spcAft>
                <a:spcPts val="0"/>
              </a:spcAft>
              <a:buClr>
                <a:schemeClr val="lt2"/>
              </a:buClr>
              <a:buSzPts val="1400"/>
              <a:buChar char="■"/>
              <a:defRPr>
                <a:solidFill>
                  <a:schemeClr val="lt2"/>
                </a:solidFill>
              </a:defRPr>
            </a:lvl3pPr>
            <a:lvl4pPr marL="1828800" lvl="3" indent="-317500">
              <a:lnSpc>
                <a:spcPct val="115000"/>
              </a:lnSpc>
              <a:spcBef>
                <a:spcPts val="0"/>
              </a:spcBef>
              <a:spcAft>
                <a:spcPts val="0"/>
              </a:spcAft>
              <a:buClr>
                <a:schemeClr val="lt2"/>
              </a:buClr>
              <a:buSzPts val="1400"/>
              <a:buChar char="●"/>
              <a:defRPr>
                <a:solidFill>
                  <a:schemeClr val="lt2"/>
                </a:solidFill>
              </a:defRPr>
            </a:lvl4pPr>
            <a:lvl5pPr marL="2286000" lvl="4" indent="-317500">
              <a:lnSpc>
                <a:spcPct val="115000"/>
              </a:lnSpc>
              <a:spcBef>
                <a:spcPts val="0"/>
              </a:spcBef>
              <a:spcAft>
                <a:spcPts val="0"/>
              </a:spcAft>
              <a:buClr>
                <a:schemeClr val="lt2"/>
              </a:buClr>
              <a:buSzPts val="1400"/>
              <a:buChar char="○"/>
              <a:defRPr>
                <a:solidFill>
                  <a:schemeClr val="lt2"/>
                </a:solidFill>
              </a:defRPr>
            </a:lvl5pPr>
            <a:lvl6pPr marL="2743200" lvl="5" indent="-317500">
              <a:lnSpc>
                <a:spcPct val="115000"/>
              </a:lnSpc>
              <a:spcBef>
                <a:spcPts val="0"/>
              </a:spcBef>
              <a:spcAft>
                <a:spcPts val="0"/>
              </a:spcAft>
              <a:buClr>
                <a:schemeClr val="lt2"/>
              </a:buClr>
              <a:buSzPts val="1400"/>
              <a:buChar char="■"/>
              <a:defRPr>
                <a:solidFill>
                  <a:schemeClr val="lt2"/>
                </a:solidFill>
              </a:defRPr>
            </a:lvl6pPr>
            <a:lvl7pPr marL="3200400" lvl="6" indent="-317500">
              <a:lnSpc>
                <a:spcPct val="115000"/>
              </a:lnSpc>
              <a:spcBef>
                <a:spcPts val="0"/>
              </a:spcBef>
              <a:spcAft>
                <a:spcPts val="0"/>
              </a:spcAft>
              <a:buClr>
                <a:schemeClr val="lt2"/>
              </a:buClr>
              <a:buSzPts val="1400"/>
              <a:buChar char="●"/>
              <a:defRPr>
                <a:solidFill>
                  <a:schemeClr val="lt2"/>
                </a:solidFill>
              </a:defRPr>
            </a:lvl7pPr>
            <a:lvl8pPr marL="3657600" lvl="7" indent="-317500">
              <a:lnSpc>
                <a:spcPct val="115000"/>
              </a:lnSpc>
              <a:spcBef>
                <a:spcPts val="0"/>
              </a:spcBef>
              <a:spcAft>
                <a:spcPts val="0"/>
              </a:spcAft>
              <a:buClr>
                <a:schemeClr val="lt2"/>
              </a:buClr>
              <a:buSzPts val="1400"/>
              <a:buChar char="○"/>
              <a:defRPr>
                <a:solidFill>
                  <a:schemeClr val="lt2"/>
                </a:solidFill>
              </a:defRPr>
            </a:lvl8pPr>
            <a:lvl9pPr marL="4114800" lvl="8" indent="-317500">
              <a:lnSpc>
                <a:spcPct val="115000"/>
              </a:lnSpc>
              <a:spcBef>
                <a:spcPts val="0"/>
              </a:spcBef>
              <a:spcAft>
                <a:spcPts val="0"/>
              </a:spcAft>
              <a:buClr>
                <a:schemeClr val="lt2"/>
              </a:buClr>
              <a:buSzPts val="1400"/>
              <a:buChar char="■"/>
              <a:defRPr>
                <a:solidFill>
                  <a:schemeClr val="lt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sz="4000">
                <a:latin typeface="Play"/>
                <a:ea typeface="Play"/>
                <a:cs typeface="Play"/>
                <a:sym typeface="Play"/>
              </a:rPr>
              <a:t>TEXT SUMMARIZER</a:t>
            </a:r>
            <a:endParaRPr sz="4000">
              <a:latin typeface="Play"/>
              <a:ea typeface="Play"/>
              <a:cs typeface="Play"/>
              <a:sym typeface="Play"/>
            </a:endParaRPr>
          </a:p>
        </p:txBody>
      </p:sp>
      <p:sp>
        <p:nvSpPr>
          <p:cNvPr id="55" name="Google Shape;55;p13"/>
          <p:cNvSpPr txBox="1">
            <a:spLocks noGrp="1"/>
          </p:cNvSpPr>
          <p:nvPr>
            <p:ph type="subTitle" idx="1"/>
          </p:nvPr>
        </p:nvSpPr>
        <p:spPr>
          <a:xfrm>
            <a:off x="311700" y="2974400"/>
            <a:ext cx="8520600" cy="1233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GB" sz="1400" dirty="0">
                <a:solidFill>
                  <a:schemeClr val="dk1"/>
                </a:solidFill>
                <a:latin typeface="Play"/>
                <a:ea typeface="Play"/>
                <a:cs typeface="Play"/>
                <a:sym typeface="Play"/>
              </a:rPr>
              <a:t>Project Authors -</a:t>
            </a:r>
            <a:endParaRPr sz="1400" dirty="0">
              <a:solidFill>
                <a:schemeClr val="dk1"/>
              </a:solidFill>
              <a:latin typeface="Play"/>
              <a:ea typeface="Play"/>
              <a:cs typeface="Play"/>
              <a:sym typeface="Play"/>
            </a:endParaRPr>
          </a:p>
          <a:p>
            <a:pPr marL="0" lvl="0" indent="0" algn="ctr" rtl="0">
              <a:spcBef>
                <a:spcPts val="0"/>
              </a:spcBef>
              <a:spcAft>
                <a:spcPts val="0"/>
              </a:spcAft>
              <a:buNone/>
            </a:pPr>
            <a:endParaRPr sz="1400" dirty="0">
              <a:solidFill>
                <a:schemeClr val="dk1"/>
              </a:solidFill>
              <a:latin typeface="Play"/>
              <a:ea typeface="Play"/>
              <a:cs typeface="Play"/>
              <a:sym typeface="Play"/>
            </a:endParaRPr>
          </a:p>
          <a:p>
            <a:pPr marL="0" lvl="0" indent="0" algn="ctr" rtl="0">
              <a:spcBef>
                <a:spcPts val="0"/>
              </a:spcBef>
              <a:spcAft>
                <a:spcPts val="0"/>
              </a:spcAft>
              <a:buNone/>
            </a:pPr>
            <a:r>
              <a:rPr lang="en-GB" sz="1400" dirty="0">
                <a:solidFill>
                  <a:schemeClr val="dk1"/>
                </a:solidFill>
                <a:latin typeface="Play"/>
                <a:ea typeface="Play"/>
                <a:cs typeface="Play"/>
                <a:sym typeface="Play"/>
              </a:rPr>
              <a:t>Arghya Mishra</a:t>
            </a:r>
            <a:endParaRPr sz="1400" dirty="0">
              <a:solidFill>
                <a:schemeClr val="dk1"/>
              </a:solidFill>
              <a:latin typeface="Play"/>
              <a:ea typeface="Play"/>
              <a:cs typeface="Play"/>
              <a:sym typeface="Play"/>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0" y="0"/>
            <a:ext cx="9061800" cy="7791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sz="2500">
                <a:latin typeface="Play"/>
                <a:ea typeface="Play"/>
                <a:cs typeface="Play"/>
                <a:sym typeface="Play"/>
              </a:rPr>
              <a:t>ABSTRACT</a:t>
            </a:r>
            <a:endParaRPr sz="2500">
              <a:latin typeface="Play"/>
              <a:ea typeface="Play"/>
              <a:cs typeface="Play"/>
              <a:sym typeface="Play"/>
            </a:endParaRPr>
          </a:p>
        </p:txBody>
      </p:sp>
      <p:sp>
        <p:nvSpPr>
          <p:cNvPr id="61" name="Google Shape;61;p14"/>
          <p:cNvSpPr txBox="1">
            <a:spLocks noGrp="1"/>
          </p:cNvSpPr>
          <p:nvPr>
            <p:ph type="body" idx="1"/>
          </p:nvPr>
        </p:nvSpPr>
        <p:spPr>
          <a:xfrm>
            <a:off x="0" y="779025"/>
            <a:ext cx="9061800" cy="4242900"/>
          </a:xfrm>
          <a:prstGeom prst="rect">
            <a:avLst/>
          </a:prstGeom>
        </p:spPr>
        <p:txBody>
          <a:bodyPr spcFirstLastPara="1" wrap="square" lIns="91425" tIns="91425" rIns="91425" bIns="91425" anchor="t" anchorCtr="0">
            <a:noAutofit/>
          </a:bodyPr>
          <a:lstStyle/>
          <a:p>
            <a:pPr marL="457200" lvl="0" indent="-317500" algn="just" rtl="0">
              <a:lnSpc>
                <a:spcPct val="115000"/>
              </a:lnSpc>
              <a:spcBef>
                <a:spcPts val="0"/>
              </a:spcBef>
              <a:spcAft>
                <a:spcPts val="0"/>
              </a:spcAft>
              <a:buClr>
                <a:schemeClr val="dk1"/>
              </a:buClr>
              <a:buSzPts val="1400"/>
              <a:buFont typeface="Play"/>
              <a:buChar char="●"/>
            </a:pPr>
            <a:r>
              <a:rPr lang="en-GB" sz="1400">
                <a:solidFill>
                  <a:schemeClr val="dk1"/>
                </a:solidFill>
                <a:latin typeface="Play"/>
                <a:ea typeface="Play"/>
                <a:cs typeface="Play"/>
                <a:sym typeface="Play"/>
              </a:rPr>
              <a:t>Text summarization is the process of making a synopsis from a given text document while keeping the important information and meaning of it. </a:t>
            </a:r>
            <a:br>
              <a:rPr lang="en-GB" sz="1400">
                <a:solidFill>
                  <a:schemeClr val="dk1"/>
                </a:solidFill>
                <a:latin typeface="Play"/>
                <a:ea typeface="Play"/>
                <a:cs typeface="Play"/>
                <a:sym typeface="Play"/>
              </a:rPr>
            </a:br>
            <a:endParaRPr sz="1400">
              <a:solidFill>
                <a:schemeClr val="dk1"/>
              </a:solidFill>
              <a:latin typeface="Play"/>
              <a:ea typeface="Play"/>
              <a:cs typeface="Play"/>
              <a:sym typeface="Play"/>
            </a:endParaRPr>
          </a:p>
          <a:p>
            <a:pPr marL="457200" lvl="0" indent="-317500" algn="just" rtl="0">
              <a:lnSpc>
                <a:spcPct val="115000"/>
              </a:lnSpc>
              <a:spcBef>
                <a:spcPts val="0"/>
              </a:spcBef>
              <a:spcAft>
                <a:spcPts val="0"/>
              </a:spcAft>
              <a:buClr>
                <a:schemeClr val="dk1"/>
              </a:buClr>
              <a:buSzPts val="1400"/>
              <a:buFont typeface="Play"/>
              <a:buChar char="●"/>
            </a:pPr>
            <a:r>
              <a:rPr lang="en-GB" sz="1400">
                <a:solidFill>
                  <a:schemeClr val="dk1"/>
                </a:solidFill>
                <a:latin typeface="Play"/>
                <a:ea typeface="Play"/>
                <a:cs typeface="Play"/>
                <a:sym typeface="Play"/>
              </a:rPr>
              <a:t>Automatic summarization has become an essential method for accurately locating significant information in vast amounts of text in a short amount of time and with minimal effort. </a:t>
            </a:r>
            <a:br>
              <a:rPr lang="en-GB" sz="1400">
                <a:solidFill>
                  <a:schemeClr val="dk1"/>
                </a:solidFill>
                <a:latin typeface="Play"/>
                <a:ea typeface="Play"/>
                <a:cs typeface="Play"/>
                <a:sym typeface="Play"/>
              </a:rPr>
            </a:br>
            <a:endParaRPr sz="1400">
              <a:solidFill>
                <a:schemeClr val="dk1"/>
              </a:solidFill>
              <a:latin typeface="Play"/>
              <a:ea typeface="Play"/>
              <a:cs typeface="Play"/>
              <a:sym typeface="Play"/>
            </a:endParaRPr>
          </a:p>
          <a:p>
            <a:pPr marL="457200" lvl="0" indent="-317500" algn="just" rtl="0">
              <a:lnSpc>
                <a:spcPct val="115000"/>
              </a:lnSpc>
              <a:spcBef>
                <a:spcPts val="0"/>
              </a:spcBef>
              <a:spcAft>
                <a:spcPts val="0"/>
              </a:spcAft>
              <a:buClr>
                <a:schemeClr val="dk1"/>
              </a:buClr>
              <a:buSzPts val="1400"/>
              <a:buFont typeface="Play"/>
              <a:buChar char="●"/>
            </a:pPr>
            <a:r>
              <a:rPr lang="en-GB" sz="1400">
                <a:solidFill>
                  <a:schemeClr val="dk1"/>
                </a:solidFill>
                <a:latin typeface="Play"/>
                <a:ea typeface="Play"/>
                <a:cs typeface="Play"/>
                <a:sym typeface="Play"/>
              </a:rPr>
              <a:t>In this project, we propose to implement a web application that can summarize a text or a Wikipedia link. We have additionally been given an opportunity to compare different methods of summarization.  </a:t>
            </a:r>
            <a:endParaRPr sz="1400">
              <a:latin typeface="Play"/>
              <a:ea typeface="Play"/>
              <a:cs typeface="Play"/>
              <a:sym typeface="Play"/>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0" y="0"/>
            <a:ext cx="9061800" cy="7791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sz="2500">
                <a:latin typeface="Play"/>
                <a:ea typeface="Play"/>
                <a:cs typeface="Play"/>
                <a:sym typeface="Play"/>
              </a:rPr>
              <a:t>INTRODUCTION</a:t>
            </a:r>
            <a:endParaRPr sz="2500">
              <a:latin typeface="Play"/>
              <a:ea typeface="Play"/>
              <a:cs typeface="Play"/>
              <a:sym typeface="Play"/>
            </a:endParaRPr>
          </a:p>
        </p:txBody>
      </p:sp>
      <p:sp>
        <p:nvSpPr>
          <p:cNvPr id="67" name="Google Shape;67;p15"/>
          <p:cNvSpPr txBox="1">
            <a:spLocks noGrp="1"/>
          </p:cNvSpPr>
          <p:nvPr>
            <p:ph type="body" idx="1"/>
          </p:nvPr>
        </p:nvSpPr>
        <p:spPr>
          <a:xfrm>
            <a:off x="0" y="779025"/>
            <a:ext cx="9061800" cy="4242900"/>
          </a:xfrm>
          <a:prstGeom prst="rect">
            <a:avLst/>
          </a:prstGeom>
        </p:spPr>
        <p:txBody>
          <a:bodyPr spcFirstLastPara="1" wrap="square" lIns="91425" tIns="91425" rIns="91425" bIns="91425" anchor="t" anchorCtr="0">
            <a:noAutofit/>
          </a:bodyPr>
          <a:lstStyle/>
          <a:p>
            <a:pPr marL="457200" lvl="0" indent="-317500" algn="just" rtl="0">
              <a:lnSpc>
                <a:spcPct val="115000"/>
              </a:lnSpc>
              <a:spcBef>
                <a:spcPts val="0"/>
              </a:spcBef>
              <a:spcAft>
                <a:spcPts val="0"/>
              </a:spcAft>
              <a:buClr>
                <a:schemeClr val="dk1"/>
              </a:buClr>
              <a:buSzPts val="1400"/>
              <a:buFont typeface="Play"/>
              <a:buChar char="●"/>
            </a:pPr>
            <a:r>
              <a:rPr lang="en-GB" sz="1400">
                <a:solidFill>
                  <a:schemeClr val="dk1"/>
                </a:solidFill>
                <a:latin typeface="Play"/>
                <a:ea typeface="Play"/>
                <a:cs typeface="Play"/>
                <a:sym typeface="Play"/>
              </a:rPr>
              <a:t>Text summarization is one of the Natural Language Processing (NLP) applications that will undoubtedly have a significant influence on our lives. </a:t>
            </a:r>
            <a:endParaRPr sz="1400">
              <a:solidFill>
                <a:schemeClr val="dk1"/>
              </a:solidFill>
              <a:latin typeface="Play"/>
              <a:ea typeface="Play"/>
              <a:cs typeface="Play"/>
              <a:sym typeface="Play"/>
            </a:endParaRPr>
          </a:p>
          <a:p>
            <a:pPr marL="457200" lvl="0" indent="0" algn="just" rtl="0">
              <a:lnSpc>
                <a:spcPct val="115000"/>
              </a:lnSpc>
              <a:spcBef>
                <a:spcPts val="0"/>
              </a:spcBef>
              <a:spcAft>
                <a:spcPts val="0"/>
              </a:spcAft>
              <a:buNone/>
            </a:pPr>
            <a:endParaRPr sz="1400">
              <a:solidFill>
                <a:schemeClr val="dk1"/>
              </a:solidFill>
              <a:latin typeface="Play"/>
              <a:ea typeface="Play"/>
              <a:cs typeface="Play"/>
              <a:sym typeface="Play"/>
            </a:endParaRPr>
          </a:p>
          <a:p>
            <a:pPr marL="457200" lvl="0" indent="-317500" algn="just" rtl="0">
              <a:lnSpc>
                <a:spcPct val="115000"/>
              </a:lnSpc>
              <a:spcBef>
                <a:spcPts val="0"/>
              </a:spcBef>
              <a:spcAft>
                <a:spcPts val="0"/>
              </a:spcAft>
              <a:buClr>
                <a:schemeClr val="dk1"/>
              </a:buClr>
              <a:buSzPts val="1400"/>
              <a:buFont typeface="Play"/>
              <a:buChar char="●"/>
            </a:pPr>
            <a:r>
              <a:rPr lang="en-GB" sz="1400">
                <a:solidFill>
                  <a:schemeClr val="dk1"/>
                </a:solidFill>
                <a:latin typeface="Play"/>
                <a:ea typeface="Play"/>
                <a:cs typeface="Play"/>
                <a:sym typeface="Play"/>
              </a:rPr>
              <a:t>With the rise of digital media and ever-increasing publication, who has the time to read complete news items, documents, books to determine whether they are beneficial or not?</a:t>
            </a:r>
            <a:endParaRPr sz="1400">
              <a:solidFill>
                <a:schemeClr val="dk1"/>
              </a:solidFill>
              <a:latin typeface="Play"/>
              <a:ea typeface="Play"/>
              <a:cs typeface="Play"/>
              <a:sym typeface="Play"/>
            </a:endParaRPr>
          </a:p>
          <a:p>
            <a:pPr marL="457200" lvl="0" indent="0" algn="just" rtl="0">
              <a:lnSpc>
                <a:spcPct val="115000"/>
              </a:lnSpc>
              <a:spcBef>
                <a:spcPts val="0"/>
              </a:spcBef>
              <a:spcAft>
                <a:spcPts val="0"/>
              </a:spcAft>
              <a:buNone/>
            </a:pPr>
            <a:endParaRPr sz="1400">
              <a:solidFill>
                <a:schemeClr val="dk1"/>
              </a:solidFill>
              <a:latin typeface="Play"/>
              <a:ea typeface="Play"/>
              <a:cs typeface="Play"/>
              <a:sym typeface="Play"/>
            </a:endParaRPr>
          </a:p>
          <a:p>
            <a:pPr marL="457200" lvl="0" indent="-317500" algn="just" rtl="0">
              <a:lnSpc>
                <a:spcPct val="115000"/>
              </a:lnSpc>
              <a:spcBef>
                <a:spcPts val="0"/>
              </a:spcBef>
              <a:spcAft>
                <a:spcPts val="0"/>
              </a:spcAft>
              <a:buClr>
                <a:schemeClr val="dk1"/>
              </a:buClr>
              <a:buSzPts val="1400"/>
              <a:buFont typeface="Play"/>
              <a:buChar char="●"/>
            </a:pPr>
            <a:r>
              <a:rPr lang="en-GB" sz="1400">
                <a:solidFill>
                  <a:schemeClr val="dk1"/>
                </a:solidFill>
                <a:latin typeface="Play"/>
                <a:ea typeface="Play"/>
                <a:cs typeface="Play"/>
                <a:sym typeface="Play"/>
              </a:rPr>
              <a:t>Automatic Text Summarization is among the most complex and intriguing topics in Natural Language Processing (NLP). </a:t>
            </a:r>
            <a:endParaRPr sz="1400">
              <a:solidFill>
                <a:schemeClr val="dk1"/>
              </a:solidFill>
              <a:latin typeface="Play"/>
              <a:ea typeface="Play"/>
              <a:cs typeface="Play"/>
              <a:sym typeface="Play"/>
            </a:endParaRPr>
          </a:p>
          <a:p>
            <a:pPr marL="457200" lvl="0" indent="0" algn="just" rtl="0">
              <a:lnSpc>
                <a:spcPct val="115000"/>
              </a:lnSpc>
              <a:spcBef>
                <a:spcPts val="0"/>
              </a:spcBef>
              <a:spcAft>
                <a:spcPts val="0"/>
              </a:spcAft>
              <a:buNone/>
            </a:pPr>
            <a:endParaRPr sz="1400">
              <a:solidFill>
                <a:schemeClr val="dk1"/>
              </a:solidFill>
              <a:latin typeface="Play"/>
              <a:ea typeface="Play"/>
              <a:cs typeface="Play"/>
              <a:sym typeface="Play"/>
            </a:endParaRPr>
          </a:p>
          <a:p>
            <a:pPr marL="457200" lvl="0" indent="-317500" algn="just" rtl="0">
              <a:lnSpc>
                <a:spcPct val="115000"/>
              </a:lnSpc>
              <a:spcBef>
                <a:spcPts val="0"/>
              </a:spcBef>
              <a:spcAft>
                <a:spcPts val="0"/>
              </a:spcAft>
              <a:buClr>
                <a:schemeClr val="dk1"/>
              </a:buClr>
              <a:buSzPts val="1400"/>
              <a:buFont typeface="Play"/>
              <a:buChar char="●"/>
            </a:pPr>
            <a:r>
              <a:rPr lang="en-GB" sz="1400">
                <a:solidFill>
                  <a:schemeClr val="dk1"/>
                </a:solidFill>
                <a:latin typeface="Play"/>
                <a:ea typeface="Play"/>
                <a:cs typeface="Play"/>
                <a:sym typeface="Play"/>
              </a:rPr>
              <a:t>It is the way of forming a brief and coherent summary of writing from a variety of text sources, including books, news stories, blog posts, research papers, emails, and tweets.</a:t>
            </a:r>
            <a:endParaRPr sz="1400">
              <a:solidFill>
                <a:schemeClr val="dk1"/>
              </a:solidFill>
              <a:latin typeface="Play"/>
              <a:ea typeface="Play"/>
              <a:cs typeface="Play"/>
              <a:sym typeface="Play"/>
            </a:endParaRPr>
          </a:p>
          <a:p>
            <a:pPr marL="457200" lvl="0" indent="0" algn="just" rtl="0">
              <a:lnSpc>
                <a:spcPct val="115000"/>
              </a:lnSpc>
              <a:spcBef>
                <a:spcPts val="0"/>
              </a:spcBef>
              <a:spcAft>
                <a:spcPts val="0"/>
              </a:spcAft>
              <a:buNone/>
            </a:pPr>
            <a:endParaRPr sz="1400">
              <a:solidFill>
                <a:schemeClr val="dk1"/>
              </a:solidFill>
              <a:latin typeface="Play"/>
              <a:ea typeface="Play"/>
              <a:cs typeface="Play"/>
              <a:sym typeface="Play"/>
            </a:endParaRPr>
          </a:p>
          <a:p>
            <a:pPr marL="457200" lvl="0" indent="-317500" algn="just" rtl="0">
              <a:lnSpc>
                <a:spcPct val="115000"/>
              </a:lnSpc>
              <a:spcBef>
                <a:spcPts val="0"/>
              </a:spcBef>
              <a:spcAft>
                <a:spcPts val="0"/>
              </a:spcAft>
              <a:buClr>
                <a:schemeClr val="dk1"/>
              </a:buClr>
              <a:buSzPts val="1400"/>
              <a:buFont typeface="Play"/>
              <a:buChar char="●"/>
            </a:pPr>
            <a:r>
              <a:rPr lang="en-GB" sz="1400">
                <a:solidFill>
                  <a:schemeClr val="dk1"/>
                </a:solidFill>
                <a:latin typeface="Play"/>
                <a:ea typeface="Play"/>
                <a:cs typeface="Play"/>
                <a:sym typeface="Play"/>
              </a:rPr>
              <a:t>The advent of vast volumes of textual data is driving up demand for automatic summarization technologies.</a:t>
            </a:r>
            <a:endParaRPr sz="1400">
              <a:solidFill>
                <a:schemeClr val="dk1"/>
              </a:solidFill>
              <a:latin typeface="Play"/>
              <a:ea typeface="Play"/>
              <a:cs typeface="Play"/>
              <a:sym typeface="Play"/>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6"/>
          <p:cNvSpPr txBox="1">
            <a:spLocks noGrp="1"/>
          </p:cNvSpPr>
          <p:nvPr>
            <p:ph type="title"/>
          </p:nvPr>
        </p:nvSpPr>
        <p:spPr>
          <a:xfrm>
            <a:off x="0" y="0"/>
            <a:ext cx="9061800" cy="7791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sz="2500">
                <a:latin typeface="Play"/>
                <a:ea typeface="Play"/>
                <a:cs typeface="Play"/>
                <a:sym typeface="Play"/>
              </a:rPr>
              <a:t>PROBLEM STATEMENT</a:t>
            </a:r>
            <a:endParaRPr sz="2500">
              <a:latin typeface="Play"/>
              <a:ea typeface="Play"/>
              <a:cs typeface="Play"/>
              <a:sym typeface="Play"/>
            </a:endParaRPr>
          </a:p>
        </p:txBody>
      </p:sp>
      <p:sp>
        <p:nvSpPr>
          <p:cNvPr id="73" name="Google Shape;73;p16"/>
          <p:cNvSpPr txBox="1">
            <a:spLocks noGrp="1"/>
          </p:cNvSpPr>
          <p:nvPr>
            <p:ph type="body" idx="1"/>
          </p:nvPr>
        </p:nvSpPr>
        <p:spPr>
          <a:xfrm>
            <a:off x="0" y="779025"/>
            <a:ext cx="9061800" cy="4242900"/>
          </a:xfrm>
          <a:prstGeom prst="rect">
            <a:avLst/>
          </a:prstGeom>
        </p:spPr>
        <p:txBody>
          <a:bodyPr spcFirstLastPara="1" wrap="square" lIns="91425" tIns="91425" rIns="91425" bIns="91425" anchor="t" anchorCtr="0">
            <a:noAutofit/>
          </a:bodyPr>
          <a:lstStyle/>
          <a:p>
            <a:pPr marL="457200" lvl="0" indent="-317500" algn="just" rtl="0">
              <a:spcBef>
                <a:spcPts val="0"/>
              </a:spcBef>
              <a:spcAft>
                <a:spcPts val="0"/>
              </a:spcAft>
              <a:buClr>
                <a:schemeClr val="dk1"/>
              </a:buClr>
              <a:buSzPts val="1400"/>
              <a:buFont typeface="Play"/>
              <a:buChar char="●"/>
            </a:pPr>
            <a:r>
              <a:rPr lang="en-GB" sz="1400">
                <a:solidFill>
                  <a:schemeClr val="dk1"/>
                </a:solidFill>
                <a:latin typeface="Play"/>
                <a:ea typeface="Play"/>
                <a:cs typeface="Play"/>
                <a:sym typeface="Play"/>
              </a:rPr>
              <a:t>The tremendous abundance of material available on the internet has produced an odd paradox: people are immersed in information, yet they are yearning for wisdom.</a:t>
            </a:r>
            <a:endParaRPr sz="1400">
              <a:solidFill>
                <a:schemeClr val="dk1"/>
              </a:solidFill>
              <a:latin typeface="Play"/>
              <a:ea typeface="Play"/>
              <a:cs typeface="Play"/>
              <a:sym typeface="Play"/>
            </a:endParaRPr>
          </a:p>
          <a:p>
            <a:pPr marL="0" lvl="0" indent="0" algn="just" rtl="0">
              <a:spcBef>
                <a:spcPts val="0"/>
              </a:spcBef>
              <a:spcAft>
                <a:spcPts val="0"/>
              </a:spcAft>
              <a:buNone/>
            </a:pPr>
            <a:endParaRPr sz="1400">
              <a:solidFill>
                <a:schemeClr val="dk1"/>
              </a:solidFill>
              <a:latin typeface="Play"/>
              <a:ea typeface="Play"/>
              <a:cs typeface="Play"/>
              <a:sym typeface="Play"/>
            </a:endParaRPr>
          </a:p>
          <a:p>
            <a:pPr marL="457200" lvl="0" indent="-317500" algn="just" rtl="0">
              <a:spcBef>
                <a:spcPts val="0"/>
              </a:spcBef>
              <a:spcAft>
                <a:spcPts val="0"/>
              </a:spcAft>
              <a:buClr>
                <a:schemeClr val="dk1"/>
              </a:buClr>
              <a:buSzPts val="1400"/>
              <a:buFont typeface="Play"/>
              <a:buChar char="●"/>
            </a:pPr>
            <a:r>
              <a:rPr lang="en-GB" sz="1400">
                <a:solidFill>
                  <a:schemeClr val="dk1"/>
                </a:solidFill>
                <a:latin typeface="Play"/>
                <a:ea typeface="Play"/>
                <a:cs typeface="Play"/>
                <a:sym typeface="Play"/>
              </a:rPr>
              <a:t>It is tough to keep up with the internet's daily production of billions of articles. Is there a method to absorb information more effectively in this case without increasing reading time?</a:t>
            </a:r>
            <a:endParaRPr sz="1400">
              <a:solidFill>
                <a:schemeClr val="dk1"/>
              </a:solidFill>
              <a:latin typeface="Play"/>
              <a:ea typeface="Play"/>
              <a:cs typeface="Play"/>
              <a:sym typeface="Play"/>
            </a:endParaRPr>
          </a:p>
          <a:p>
            <a:pPr marL="0" lvl="0" indent="0" algn="just" rtl="0">
              <a:spcBef>
                <a:spcPts val="0"/>
              </a:spcBef>
              <a:spcAft>
                <a:spcPts val="0"/>
              </a:spcAft>
              <a:buNone/>
            </a:pPr>
            <a:endParaRPr sz="1400">
              <a:solidFill>
                <a:schemeClr val="dk1"/>
              </a:solidFill>
              <a:latin typeface="Play"/>
              <a:ea typeface="Play"/>
              <a:cs typeface="Play"/>
              <a:sym typeface="Play"/>
            </a:endParaRPr>
          </a:p>
          <a:p>
            <a:pPr marL="457200" lvl="0" indent="-317500" algn="just" rtl="0">
              <a:spcBef>
                <a:spcPts val="0"/>
              </a:spcBef>
              <a:spcAft>
                <a:spcPts val="0"/>
              </a:spcAft>
              <a:buClr>
                <a:schemeClr val="dk1"/>
              </a:buClr>
              <a:buSzPts val="1400"/>
              <a:buFont typeface="Play"/>
              <a:buChar char="●"/>
            </a:pPr>
            <a:r>
              <a:rPr lang="en-GB" sz="1400">
                <a:solidFill>
                  <a:schemeClr val="dk1"/>
                </a:solidFill>
                <a:latin typeface="Play"/>
                <a:ea typeface="Play"/>
                <a:cs typeface="Play"/>
                <a:sym typeface="Play"/>
              </a:rPr>
              <a:t>We are proposing for the above problem a Text Summarizer web app using NLP  and NLTK libraries.</a:t>
            </a:r>
            <a:endParaRPr sz="1400">
              <a:solidFill>
                <a:schemeClr val="dk1"/>
              </a:solidFill>
              <a:latin typeface="Play"/>
              <a:ea typeface="Play"/>
              <a:cs typeface="Play"/>
              <a:sym typeface="Play"/>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7"/>
          <p:cNvSpPr txBox="1">
            <a:spLocks noGrp="1"/>
          </p:cNvSpPr>
          <p:nvPr>
            <p:ph type="title"/>
          </p:nvPr>
        </p:nvSpPr>
        <p:spPr>
          <a:xfrm>
            <a:off x="0" y="0"/>
            <a:ext cx="9061800" cy="7791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sz="2500">
                <a:latin typeface="Play"/>
                <a:ea typeface="Play"/>
                <a:cs typeface="Play"/>
                <a:sym typeface="Play"/>
              </a:rPr>
              <a:t>PRESENT SOLUTIONS</a:t>
            </a:r>
            <a:endParaRPr sz="2500">
              <a:latin typeface="Play"/>
              <a:ea typeface="Play"/>
              <a:cs typeface="Play"/>
              <a:sym typeface="Play"/>
            </a:endParaRPr>
          </a:p>
        </p:txBody>
      </p:sp>
      <p:sp>
        <p:nvSpPr>
          <p:cNvPr id="79" name="Google Shape;79;p17"/>
          <p:cNvSpPr txBox="1">
            <a:spLocks noGrp="1"/>
          </p:cNvSpPr>
          <p:nvPr>
            <p:ph type="body" idx="1"/>
          </p:nvPr>
        </p:nvSpPr>
        <p:spPr>
          <a:xfrm>
            <a:off x="0" y="779025"/>
            <a:ext cx="9061800" cy="4242900"/>
          </a:xfrm>
          <a:prstGeom prst="rect">
            <a:avLst/>
          </a:prstGeom>
        </p:spPr>
        <p:txBody>
          <a:bodyPr spcFirstLastPara="1" wrap="square" lIns="91425" tIns="91425" rIns="91425" bIns="91425" anchor="t" anchorCtr="0">
            <a:noAutofit/>
          </a:bodyPr>
          <a:lstStyle/>
          <a:p>
            <a:pPr marL="457200" lvl="0" indent="-317500" algn="just" rtl="0">
              <a:spcBef>
                <a:spcPts val="0"/>
              </a:spcBef>
              <a:spcAft>
                <a:spcPts val="0"/>
              </a:spcAft>
              <a:buClr>
                <a:schemeClr val="dk1"/>
              </a:buClr>
              <a:buSzPts val="1400"/>
              <a:buFont typeface="Play"/>
              <a:buChar char="●"/>
            </a:pPr>
            <a:r>
              <a:rPr lang="en-GB" sz="1400" b="1">
                <a:solidFill>
                  <a:schemeClr val="dk1"/>
                </a:solidFill>
                <a:latin typeface="Play"/>
                <a:ea typeface="Play"/>
                <a:cs typeface="Play"/>
                <a:sym typeface="Play"/>
              </a:rPr>
              <a:t>Inshorts</a:t>
            </a:r>
            <a:endParaRPr sz="1400" b="1">
              <a:solidFill>
                <a:schemeClr val="dk1"/>
              </a:solidFill>
              <a:latin typeface="Play"/>
              <a:ea typeface="Play"/>
              <a:cs typeface="Play"/>
              <a:sym typeface="Play"/>
            </a:endParaRPr>
          </a:p>
          <a:p>
            <a:pPr marL="457200" lvl="0" indent="0" algn="just" rtl="0">
              <a:spcBef>
                <a:spcPts val="0"/>
              </a:spcBef>
              <a:spcAft>
                <a:spcPts val="0"/>
              </a:spcAft>
              <a:buNone/>
            </a:pPr>
            <a:r>
              <a:rPr lang="en-GB" sz="1400">
                <a:solidFill>
                  <a:schemeClr val="dk1"/>
                </a:solidFill>
                <a:latin typeface="Play"/>
                <a:ea typeface="Play"/>
                <a:cs typeface="Play"/>
                <a:sym typeface="Play"/>
              </a:rPr>
              <a:t>Inshorts is a news app that selects latest and best news from multiple national and international sources and summarises them to present in a short and crisp 60 words or less format, personalized in both, English or Hindi. </a:t>
            </a:r>
            <a:endParaRPr sz="1400">
              <a:solidFill>
                <a:schemeClr val="dk1"/>
              </a:solidFill>
              <a:latin typeface="Play"/>
              <a:ea typeface="Play"/>
              <a:cs typeface="Play"/>
              <a:sym typeface="Play"/>
            </a:endParaRPr>
          </a:p>
          <a:p>
            <a:pPr marL="457200" lvl="0" indent="0" algn="just" rtl="0">
              <a:spcBef>
                <a:spcPts val="0"/>
              </a:spcBef>
              <a:spcAft>
                <a:spcPts val="0"/>
              </a:spcAft>
              <a:buNone/>
            </a:pPr>
            <a:endParaRPr sz="1400">
              <a:solidFill>
                <a:schemeClr val="dk1"/>
              </a:solidFill>
              <a:latin typeface="Play"/>
              <a:ea typeface="Play"/>
              <a:cs typeface="Play"/>
              <a:sym typeface="Play"/>
            </a:endParaRPr>
          </a:p>
          <a:p>
            <a:pPr marL="457200" lvl="0" indent="-317500" algn="just" rtl="0">
              <a:spcBef>
                <a:spcPts val="0"/>
              </a:spcBef>
              <a:spcAft>
                <a:spcPts val="0"/>
              </a:spcAft>
              <a:buClr>
                <a:schemeClr val="dk1"/>
              </a:buClr>
              <a:buSzPts val="1400"/>
              <a:buFont typeface="Play"/>
              <a:buChar char="●"/>
            </a:pPr>
            <a:r>
              <a:rPr lang="en-GB" sz="1400" b="1">
                <a:solidFill>
                  <a:schemeClr val="dk1"/>
                </a:solidFill>
                <a:latin typeface="Play"/>
                <a:ea typeface="Play"/>
                <a:cs typeface="Play"/>
                <a:sym typeface="Play"/>
              </a:rPr>
              <a:t>Summarizer Bot</a:t>
            </a:r>
            <a:endParaRPr sz="1400" b="1">
              <a:solidFill>
                <a:schemeClr val="dk1"/>
              </a:solidFill>
              <a:latin typeface="Play"/>
              <a:ea typeface="Play"/>
              <a:cs typeface="Play"/>
              <a:sym typeface="Play"/>
            </a:endParaRPr>
          </a:p>
          <a:p>
            <a:pPr marL="457200" lvl="0" indent="0" algn="just" rtl="0">
              <a:spcBef>
                <a:spcPts val="0"/>
              </a:spcBef>
              <a:spcAft>
                <a:spcPts val="0"/>
              </a:spcAft>
              <a:buNone/>
            </a:pPr>
            <a:r>
              <a:rPr lang="en-GB" sz="1400">
                <a:solidFill>
                  <a:schemeClr val="dk1"/>
                </a:solidFill>
                <a:latin typeface="Play"/>
                <a:ea typeface="Play"/>
                <a:cs typeface="Play"/>
                <a:sym typeface="Play"/>
              </a:rPr>
              <a:t>AI and blockchain-powered tool which allows users to know more by reading less with summarization of long texts. It includes Wikipedia articles, white papers, web pages, and even audio and images. </a:t>
            </a:r>
            <a:endParaRPr sz="1400">
              <a:solidFill>
                <a:schemeClr val="dk1"/>
              </a:solidFill>
              <a:latin typeface="Play"/>
              <a:ea typeface="Play"/>
              <a:cs typeface="Play"/>
              <a:sym typeface="Play"/>
            </a:endParaRPr>
          </a:p>
          <a:p>
            <a:pPr marL="457200" lvl="0" indent="0" algn="just" rtl="0">
              <a:spcBef>
                <a:spcPts val="0"/>
              </a:spcBef>
              <a:spcAft>
                <a:spcPts val="0"/>
              </a:spcAft>
              <a:buNone/>
            </a:pPr>
            <a:endParaRPr sz="1400">
              <a:solidFill>
                <a:schemeClr val="dk1"/>
              </a:solidFill>
              <a:latin typeface="Play"/>
              <a:ea typeface="Play"/>
              <a:cs typeface="Play"/>
              <a:sym typeface="Play"/>
            </a:endParaRPr>
          </a:p>
          <a:p>
            <a:pPr marL="457200" lvl="0" indent="-317500" algn="just" rtl="0">
              <a:spcBef>
                <a:spcPts val="0"/>
              </a:spcBef>
              <a:spcAft>
                <a:spcPts val="0"/>
              </a:spcAft>
              <a:buClr>
                <a:schemeClr val="dk1"/>
              </a:buClr>
              <a:buSzPts val="1400"/>
              <a:buChar char="●"/>
            </a:pPr>
            <a:r>
              <a:rPr lang="en-GB" sz="1400" b="1">
                <a:solidFill>
                  <a:schemeClr val="dk1"/>
                </a:solidFill>
                <a:latin typeface="Play"/>
                <a:ea typeface="Play"/>
                <a:cs typeface="Play"/>
                <a:sym typeface="Play"/>
              </a:rPr>
              <a:t>Resoomer</a:t>
            </a:r>
            <a:br>
              <a:rPr lang="en-GB" sz="1400">
                <a:solidFill>
                  <a:schemeClr val="dk1"/>
                </a:solidFill>
                <a:latin typeface="Play"/>
                <a:ea typeface="Play"/>
                <a:cs typeface="Play"/>
                <a:sym typeface="Play"/>
              </a:rPr>
            </a:br>
            <a:r>
              <a:rPr lang="en-GB" sz="1400">
                <a:solidFill>
                  <a:schemeClr val="dk1"/>
                </a:solidFill>
                <a:latin typeface="Play"/>
                <a:ea typeface="Play"/>
                <a:cs typeface="Play"/>
                <a:sym typeface="Play"/>
              </a:rPr>
              <a:t>This tool generates accurate summaries of texts, allowing you to filter through documents by key topics, identify important facts and ideas, and interpret articles faster. </a:t>
            </a:r>
            <a:endParaRPr sz="1400">
              <a:solidFill>
                <a:schemeClr val="dk1"/>
              </a:solidFill>
              <a:latin typeface="Play"/>
              <a:ea typeface="Play"/>
              <a:cs typeface="Play"/>
              <a:sym typeface="Play"/>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8"/>
          <p:cNvSpPr txBox="1">
            <a:spLocks noGrp="1"/>
          </p:cNvSpPr>
          <p:nvPr>
            <p:ph type="title"/>
          </p:nvPr>
        </p:nvSpPr>
        <p:spPr>
          <a:xfrm>
            <a:off x="0" y="0"/>
            <a:ext cx="9061800" cy="7791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sz="2500">
                <a:latin typeface="Play"/>
                <a:ea typeface="Play"/>
                <a:cs typeface="Play"/>
                <a:sym typeface="Play"/>
              </a:rPr>
              <a:t>METHODS</a:t>
            </a:r>
            <a:endParaRPr sz="2500">
              <a:latin typeface="Play"/>
              <a:ea typeface="Play"/>
              <a:cs typeface="Play"/>
              <a:sym typeface="Play"/>
            </a:endParaRPr>
          </a:p>
        </p:txBody>
      </p:sp>
      <p:sp>
        <p:nvSpPr>
          <p:cNvPr id="85" name="Google Shape;85;p18"/>
          <p:cNvSpPr txBox="1">
            <a:spLocks noGrp="1"/>
          </p:cNvSpPr>
          <p:nvPr>
            <p:ph type="body" idx="1"/>
          </p:nvPr>
        </p:nvSpPr>
        <p:spPr>
          <a:xfrm>
            <a:off x="0" y="779025"/>
            <a:ext cx="9061800" cy="4242900"/>
          </a:xfrm>
          <a:prstGeom prst="rect">
            <a:avLst/>
          </a:prstGeom>
        </p:spPr>
        <p:txBody>
          <a:bodyPr spcFirstLastPara="1" wrap="square" lIns="91425" tIns="91425" rIns="91425" bIns="91425" anchor="t" anchorCtr="0">
            <a:noAutofit/>
          </a:bodyPr>
          <a:lstStyle/>
          <a:p>
            <a:pPr marL="457200" lvl="0" indent="-317500" algn="just" rtl="0">
              <a:spcBef>
                <a:spcPts val="0"/>
              </a:spcBef>
              <a:spcAft>
                <a:spcPts val="0"/>
              </a:spcAft>
              <a:buClr>
                <a:schemeClr val="dk1"/>
              </a:buClr>
              <a:buSzPts val="1400"/>
              <a:buFont typeface="Play"/>
              <a:buChar char="●"/>
            </a:pPr>
            <a:r>
              <a:rPr lang="en-GB" sz="1400" b="1">
                <a:solidFill>
                  <a:schemeClr val="dk1"/>
                </a:solidFill>
                <a:latin typeface="Play"/>
                <a:ea typeface="Play"/>
                <a:cs typeface="Play"/>
                <a:sym typeface="Play"/>
              </a:rPr>
              <a:t>Gensim</a:t>
            </a:r>
            <a:r>
              <a:rPr lang="en-GB" sz="1400">
                <a:solidFill>
                  <a:schemeClr val="dk1"/>
                </a:solidFill>
                <a:latin typeface="Play"/>
                <a:ea typeface="Play"/>
                <a:cs typeface="Play"/>
                <a:sym typeface="Play"/>
              </a:rPr>
              <a:t> is an open source library in python  used in unsupervised topic modelling and natural language processing. It is designed to extract semantic topics from documents. Summarizing is based on ranks of text sentences using a variation of the TextRank algorithm.</a:t>
            </a:r>
            <a:endParaRPr sz="1400">
              <a:solidFill>
                <a:schemeClr val="dk1"/>
              </a:solidFill>
              <a:latin typeface="Play"/>
              <a:ea typeface="Play"/>
              <a:cs typeface="Play"/>
              <a:sym typeface="Play"/>
            </a:endParaRPr>
          </a:p>
          <a:p>
            <a:pPr marL="914400" lvl="0" indent="0" algn="just" rtl="0">
              <a:spcBef>
                <a:spcPts val="0"/>
              </a:spcBef>
              <a:spcAft>
                <a:spcPts val="0"/>
              </a:spcAft>
              <a:buNone/>
            </a:pPr>
            <a:endParaRPr sz="1400">
              <a:solidFill>
                <a:schemeClr val="dk1"/>
              </a:solidFill>
              <a:latin typeface="Play"/>
              <a:ea typeface="Play"/>
              <a:cs typeface="Play"/>
              <a:sym typeface="Play"/>
            </a:endParaRPr>
          </a:p>
          <a:p>
            <a:pPr marL="457200" lvl="0" indent="-317500" algn="just" rtl="0">
              <a:spcBef>
                <a:spcPts val="0"/>
              </a:spcBef>
              <a:spcAft>
                <a:spcPts val="0"/>
              </a:spcAft>
              <a:buClr>
                <a:schemeClr val="dk1"/>
              </a:buClr>
              <a:buSzPts val="1400"/>
              <a:buFont typeface="Play"/>
              <a:buChar char="●"/>
            </a:pPr>
            <a:r>
              <a:rPr lang="en-GB" sz="1400" b="1">
                <a:solidFill>
                  <a:schemeClr val="dk1"/>
                </a:solidFill>
                <a:latin typeface="Play"/>
                <a:ea typeface="Play"/>
                <a:cs typeface="Play"/>
                <a:sym typeface="Play"/>
              </a:rPr>
              <a:t>NLTK</a:t>
            </a:r>
            <a:r>
              <a:rPr lang="en-GB" sz="1400">
                <a:solidFill>
                  <a:schemeClr val="dk1"/>
                </a:solidFill>
                <a:latin typeface="Play"/>
                <a:ea typeface="Play"/>
                <a:cs typeface="Play"/>
                <a:sym typeface="Play"/>
              </a:rPr>
              <a:t> is an essential library supports tasks such as classification, stemming, tagging, parsing, semantic reasoning, and tokenization in Python. It’s basically your main tool for natural language processing and machine learning. </a:t>
            </a:r>
            <a:endParaRPr sz="1400">
              <a:solidFill>
                <a:schemeClr val="dk1"/>
              </a:solidFill>
              <a:latin typeface="Play"/>
              <a:ea typeface="Play"/>
              <a:cs typeface="Play"/>
              <a:sym typeface="Play"/>
            </a:endParaRPr>
          </a:p>
          <a:p>
            <a:pPr marL="914400" lvl="0" indent="0" algn="just" rtl="0">
              <a:spcBef>
                <a:spcPts val="0"/>
              </a:spcBef>
              <a:spcAft>
                <a:spcPts val="0"/>
              </a:spcAft>
              <a:buNone/>
            </a:pPr>
            <a:endParaRPr sz="1400">
              <a:solidFill>
                <a:schemeClr val="dk1"/>
              </a:solidFill>
              <a:latin typeface="Play"/>
              <a:ea typeface="Play"/>
              <a:cs typeface="Play"/>
              <a:sym typeface="Play"/>
            </a:endParaRPr>
          </a:p>
          <a:p>
            <a:pPr marL="457200" lvl="0" indent="-317500" algn="just" rtl="0">
              <a:spcBef>
                <a:spcPts val="0"/>
              </a:spcBef>
              <a:spcAft>
                <a:spcPts val="0"/>
              </a:spcAft>
              <a:buClr>
                <a:schemeClr val="dk1"/>
              </a:buClr>
              <a:buSzPts val="1400"/>
              <a:buFont typeface="Play"/>
              <a:buChar char="●"/>
            </a:pPr>
            <a:r>
              <a:rPr lang="en-GB" sz="1400" b="1">
                <a:solidFill>
                  <a:schemeClr val="dk1"/>
                </a:solidFill>
                <a:latin typeface="Play"/>
                <a:ea typeface="Play"/>
                <a:cs typeface="Play"/>
                <a:sym typeface="Play"/>
              </a:rPr>
              <a:t>spaCy </a:t>
            </a:r>
            <a:r>
              <a:rPr lang="en-GB" sz="1400">
                <a:solidFill>
                  <a:schemeClr val="dk1"/>
                </a:solidFill>
                <a:latin typeface="Play"/>
                <a:ea typeface="Play"/>
                <a:cs typeface="Play"/>
                <a:sym typeface="Play"/>
              </a:rPr>
              <a:t>is a free, open-source library for advanced Natural Language Processing (NLP) in Python. It is designed specifically for production use. It can be used to build information extraction or natural language understanding systems, or to pre-process text for deep learning.</a:t>
            </a:r>
            <a:endParaRPr sz="1400">
              <a:solidFill>
                <a:schemeClr val="dk1"/>
              </a:solidFill>
              <a:latin typeface="Play"/>
              <a:ea typeface="Play"/>
              <a:cs typeface="Play"/>
              <a:sym typeface="Play"/>
            </a:endParaRPr>
          </a:p>
          <a:p>
            <a:pPr marL="914400" lvl="0" indent="0" algn="just" rtl="0">
              <a:spcBef>
                <a:spcPts val="0"/>
              </a:spcBef>
              <a:spcAft>
                <a:spcPts val="0"/>
              </a:spcAft>
              <a:buNone/>
            </a:pPr>
            <a:endParaRPr sz="1400">
              <a:solidFill>
                <a:schemeClr val="dk1"/>
              </a:solidFill>
              <a:latin typeface="Play"/>
              <a:ea typeface="Play"/>
              <a:cs typeface="Play"/>
              <a:sym typeface="Play"/>
            </a:endParaRPr>
          </a:p>
          <a:p>
            <a:pPr marL="457200" lvl="0" indent="-317500" algn="just" rtl="0">
              <a:spcBef>
                <a:spcPts val="0"/>
              </a:spcBef>
              <a:spcAft>
                <a:spcPts val="0"/>
              </a:spcAft>
              <a:buClr>
                <a:schemeClr val="dk1"/>
              </a:buClr>
              <a:buSzPts val="1400"/>
              <a:buFont typeface="Play"/>
              <a:buChar char="●"/>
            </a:pPr>
            <a:r>
              <a:rPr lang="en-GB" sz="1400" b="1">
                <a:solidFill>
                  <a:schemeClr val="dk1"/>
                </a:solidFill>
                <a:latin typeface="Play"/>
                <a:ea typeface="Play"/>
                <a:cs typeface="Play"/>
                <a:sym typeface="Play"/>
              </a:rPr>
              <a:t>Sumy</a:t>
            </a:r>
            <a:r>
              <a:rPr lang="en-GB" sz="1400">
                <a:solidFill>
                  <a:schemeClr val="dk1"/>
                </a:solidFill>
                <a:latin typeface="Play"/>
                <a:ea typeface="Play"/>
                <a:cs typeface="Play"/>
                <a:sym typeface="Play"/>
              </a:rPr>
              <a:t> is an open-sourced Python library to extract summaries from HTML pages and text files. The package also contains an evaluation framework for text summaries. Sumy offers several algorithms and methods for text summarization such as LexRank and TextRank.</a:t>
            </a:r>
            <a:endParaRPr sz="1400" b="1">
              <a:solidFill>
                <a:schemeClr val="dk1"/>
              </a:solidFill>
              <a:latin typeface="Play"/>
              <a:ea typeface="Play"/>
              <a:cs typeface="Play"/>
              <a:sym typeface="Play"/>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9"/>
          <p:cNvSpPr txBox="1">
            <a:spLocks noGrp="1"/>
          </p:cNvSpPr>
          <p:nvPr>
            <p:ph type="title"/>
          </p:nvPr>
        </p:nvSpPr>
        <p:spPr>
          <a:xfrm>
            <a:off x="0" y="0"/>
            <a:ext cx="9061800" cy="7791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sz="2500">
                <a:latin typeface="Play"/>
                <a:ea typeface="Play"/>
                <a:cs typeface="Play"/>
                <a:sym typeface="Play"/>
              </a:rPr>
              <a:t>INDUSTRY USE CASES</a:t>
            </a:r>
            <a:endParaRPr sz="2500">
              <a:latin typeface="Play"/>
              <a:ea typeface="Play"/>
              <a:cs typeface="Play"/>
              <a:sym typeface="Play"/>
            </a:endParaRPr>
          </a:p>
        </p:txBody>
      </p:sp>
      <p:sp>
        <p:nvSpPr>
          <p:cNvPr id="91" name="Google Shape;91;p19"/>
          <p:cNvSpPr txBox="1">
            <a:spLocks noGrp="1"/>
          </p:cNvSpPr>
          <p:nvPr>
            <p:ph type="body" idx="1"/>
          </p:nvPr>
        </p:nvSpPr>
        <p:spPr>
          <a:xfrm>
            <a:off x="0" y="779025"/>
            <a:ext cx="9061800" cy="4242900"/>
          </a:xfrm>
          <a:prstGeom prst="rect">
            <a:avLst/>
          </a:prstGeom>
        </p:spPr>
        <p:txBody>
          <a:bodyPr spcFirstLastPara="1" wrap="square" lIns="91425" tIns="91425" rIns="91425" bIns="91425" anchor="t" anchorCtr="0">
            <a:noAutofit/>
          </a:bodyPr>
          <a:lstStyle/>
          <a:p>
            <a:pPr marL="457200" lvl="0" indent="-317500" algn="just" rtl="0">
              <a:lnSpc>
                <a:spcPct val="100000"/>
              </a:lnSpc>
              <a:spcBef>
                <a:spcPts val="0"/>
              </a:spcBef>
              <a:spcAft>
                <a:spcPts val="0"/>
              </a:spcAft>
              <a:buClr>
                <a:schemeClr val="dk1"/>
              </a:buClr>
              <a:buSzPts val="1400"/>
              <a:buChar char="●"/>
            </a:pPr>
            <a:r>
              <a:rPr lang="en-GB" sz="1400" b="1">
                <a:solidFill>
                  <a:schemeClr val="dk1"/>
                </a:solidFill>
                <a:latin typeface="Play"/>
                <a:ea typeface="Play"/>
                <a:cs typeface="Play"/>
                <a:sym typeface="Play"/>
              </a:rPr>
              <a:t>Media Monitoring</a:t>
            </a:r>
            <a:br>
              <a:rPr lang="en-GB" sz="1400">
                <a:solidFill>
                  <a:schemeClr val="dk1"/>
                </a:solidFill>
                <a:latin typeface="Play"/>
                <a:ea typeface="Play"/>
                <a:cs typeface="Play"/>
                <a:sym typeface="Play"/>
              </a:rPr>
            </a:br>
            <a:r>
              <a:rPr lang="en-GB" sz="1400">
                <a:solidFill>
                  <a:schemeClr val="dk1"/>
                </a:solidFill>
                <a:latin typeface="Play"/>
                <a:ea typeface="Play"/>
                <a:cs typeface="Play"/>
                <a:sym typeface="Play"/>
              </a:rPr>
              <a:t>The issue of overload of information and content shock can be solved by automatic summarization as presents it can condense the continuous torrent of information into smaller pieces of information.</a:t>
            </a:r>
            <a:endParaRPr sz="1400">
              <a:solidFill>
                <a:schemeClr val="dk1"/>
              </a:solidFill>
              <a:latin typeface="Play"/>
              <a:ea typeface="Play"/>
              <a:cs typeface="Play"/>
              <a:sym typeface="Play"/>
            </a:endParaRPr>
          </a:p>
          <a:p>
            <a:pPr marL="457200" lvl="0" indent="0" algn="just" rtl="0">
              <a:lnSpc>
                <a:spcPct val="100000"/>
              </a:lnSpc>
              <a:spcBef>
                <a:spcPts val="0"/>
              </a:spcBef>
              <a:spcAft>
                <a:spcPts val="0"/>
              </a:spcAft>
              <a:buNone/>
            </a:pPr>
            <a:endParaRPr sz="1400">
              <a:solidFill>
                <a:schemeClr val="dk1"/>
              </a:solidFill>
              <a:latin typeface="Play"/>
              <a:ea typeface="Play"/>
              <a:cs typeface="Play"/>
              <a:sym typeface="Play"/>
            </a:endParaRPr>
          </a:p>
          <a:p>
            <a:pPr marL="457200" lvl="0" indent="-317500" algn="just" rtl="0">
              <a:lnSpc>
                <a:spcPct val="100000"/>
              </a:lnSpc>
              <a:spcBef>
                <a:spcPts val="0"/>
              </a:spcBef>
              <a:spcAft>
                <a:spcPts val="0"/>
              </a:spcAft>
              <a:buClr>
                <a:schemeClr val="dk1"/>
              </a:buClr>
              <a:buSzPts val="1400"/>
              <a:buFont typeface="Play"/>
              <a:buChar char="●"/>
            </a:pPr>
            <a:r>
              <a:rPr lang="en-GB" sz="1400" b="1">
                <a:solidFill>
                  <a:schemeClr val="dk1"/>
                </a:solidFill>
                <a:latin typeface="Play"/>
                <a:ea typeface="Play"/>
                <a:cs typeface="Play"/>
                <a:sym typeface="Play"/>
              </a:rPr>
              <a:t>Search Marketing and SEO</a:t>
            </a:r>
            <a:endParaRPr sz="1400" b="1">
              <a:solidFill>
                <a:schemeClr val="dk1"/>
              </a:solidFill>
              <a:latin typeface="Play"/>
              <a:ea typeface="Play"/>
              <a:cs typeface="Play"/>
              <a:sym typeface="Play"/>
            </a:endParaRPr>
          </a:p>
          <a:p>
            <a:pPr marL="457200" lvl="0" indent="0" algn="just" rtl="0">
              <a:lnSpc>
                <a:spcPct val="100000"/>
              </a:lnSpc>
              <a:spcBef>
                <a:spcPts val="0"/>
              </a:spcBef>
              <a:spcAft>
                <a:spcPts val="0"/>
              </a:spcAft>
              <a:buNone/>
            </a:pPr>
            <a:r>
              <a:rPr lang="en-GB" sz="1400">
                <a:solidFill>
                  <a:schemeClr val="dk1"/>
                </a:solidFill>
                <a:latin typeface="Play"/>
                <a:ea typeface="Play"/>
                <a:cs typeface="Play"/>
                <a:sym typeface="Play"/>
              </a:rPr>
              <a:t>Multi-document summarization can be a powerful tool to quickly analyze dozens of search results, understand shared themes and skim the most important points.</a:t>
            </a:r>
            <a:endParaRPr sz="1400">
              <a:solidFill>
                <a:schemeClr val="dk1"/>
              </a:solidFill>
              <a:latin typeface="Play"/>
              <a:ea typeface="Play"/>
              <a:cs typeface="Play"/>
              <a:sym typeface="Play"/>
            </a:endParaRPr>
          </a:p>
          <a:p>
            <a:pPr marL="457200" lvl="0" indent="0" algn="just" rtl="0">
              <a:lnSpc>
                <a:spcPct val="100000"/>
              </a:lnSpc>
              <a:spcBef>
                <a:spcPts val="0"/>
              </a:spcBef>
              <a:spcAft>
                <a:spcPts val="0"/>
              </a:spcAft>
              <a:buNone/>
            </a:pPr>
            <a:endParaRPr sz="1400">
              <a:solidFill>
                <a:schemeClr val="dk1"/>
              </a:solidFill>
              <a:latin typeface="Play"/>
              <a:ea typeface="Play"/>
              <a:cs typeface="Play"/>
              <a:sym typeface="Play"/>
            </a:endParaRPr>
          </a:p>
          <a:p>
            <a:pPr marL="457200" lvl="0" indent="-317500" algn="just" rtl="0">
              <a:lnSpc>
                <a:spcPct val="100000"/>
              </a:lnSpc>
              <a:spcBef>
                <a:spcPts val="0"/>
              </a:spcBef>
              <a:spcAft>
                <a:spcPts val="0"/>
              </a:spcAft>
              <a:buClr>
                <a:schemeClr val="dk1"/>
              </a:buClr>
              <a:buSzPts val="1400"/>
              <a:buFont typeface="Play"/>
              <a:buChar char="●"/>
            </a:pPr>
            <a:r>
              <a:rPr lang="en-GB" sz="1400" b="1">
                <a:solidFill>
                  <a:schemeClr val="dk1"/>
                </a:solidFill>
                <a:latin typeface="Play"/>
                <a:ea typeface="Play"/>
                <a:cs typeface="Play"/>
                <a:sym typeface="Play"/>
              </a:rPr>
              <a:t>Internal Document Workflow</a:t>
            </a:r>
            <a:endParaRPr sz="1400" b="1">
              <a:solidFill>
                <a:schemeClr val="dk1"/>
              </a:solidFill>
              <a:latin typeface="Play"/>
              <a:ea typeface="Play"/>
              <a:cs typeface="Play"/>
              <a:sym typeface="Play"/>
            </a:endParaRPr>
          </a:p>
          <a:p>
            <a:pPr marL="457200" lvl="0" indent="0" algn="just" rtl="0">
              <a:lnSpc>
                <a:spcPct val="100000"/>
              </a:lnSpc>
              <a:spcBef>
                <a:spcPts val="0"/>
              </a:spcBef>
              <a:spcAft>
                <a:spcPts val="0"/>
              </a:spcAft>
              <a:buNone/>
            </a:pPr>
            <a:r>
              <a:rPr lang="en-GB" sz="1400">
                <a:solidFill>
                  <a:schemeClr val="dk1"/>
                </a:solidFill>
                <a:latin typeface="Play"/>
                <a:ea typeface="Play"/>
                <a:cs typeface="Play"/>
                <a:sym typeface="Play"/>
              </a:rPr>
              <a:t>Summarization can enable analysts to quickly understand everything the company has already done in a given subject, and quickly assemble reports that incorporate different points of view.</a:t>
            </a:r>
            <a:endParaRPr sz="1400">
              <a:solidFill>
                <a:schemeClr val="dk1"/>
              </a:solidFill>
              <a:latin typeface="Play"/>
              <a:ea typeface="Play"/>
              <a:cs typeface="Play"/>
              <a:sym typeface="Play"/>
            </a:endParaRPr>
          </a:p>
          <a:p>
            <a:pPr marL="457200" lvl="0" indent="0" algn="just" rtl="0">
              <a:lnSpc>
                <a:spcPct val="100000"/>
              </a:lnSpc>
              <a:spcBef>
                <a:spcPts val="0"/>
              </a:spcBef>
              <a:spcAft>
                <a:spcPts val="0"/>
              </a:spcAft>
              <a:buNone/>
            </a:pPr>
            <a:endParaRPr sz="1400">
              <a:solidFill>
                <a:schemeClr val="dk1"/>
              </a:solidFill>
              <a:latin typeface="Play"/>
              <a:ea typeface="Play"/>
              <a:cs typeface="Play"/>
              <a:sym typeface="Play"/>
            </a:endParaRPr>
          </a:p>
          <a:p>
            <a:pPr marL="457200" lvl="0" indent="-317500" algn="just" rtl="0">
              <a:lnSpc>
                <a:spcPct val="100000"/>
              </a:lnSpc>
              <a:spcBef>
                <a:spcPts val="0"/>
              </a:spcBef>
              <a:spcAft>
                <a:spcPts val="0"/>
              </a:spcAft>
              <a:buClr>
                <a:schemeClr val="dk1"/>
              </a:buClr>
              <a:buSzPts val="1400"/>
              <a:buFont typeface="Play"/>
              <a:buChar char="●"/>
            </a:pPr>
            <a:r>
              <a:rPr lang="en-GB" sz="1400" b="1">
                <a:solidFill>
                  <a:schemeClr val="dk1"/>
                </a:solidFill>
                <a:latin typeface="Play"/>
                <a:ea typeface="Play"/>
                <a:cs typeface="Play"/>
                <a:sym typeface="Play"/>
              </a:rPr>
              <a:t>Medical Cases</a:t>
            </a:r>
            <a:endParaRPr sz="1400" b="1">
              <a:solidFill>
                <a:schemeClr val="dk1"/>
              </a:solidFill>
              <a:latin typeface="Play"/>
              <a:ea typeface="Play"/>
              <a:cs typeface="Play"/>
              <a:sym typeface="Play"/>
            </a:endParaRPr>
          </a:p>
          <a:p>
            <a:pPr marL="457200" lvl="0" indent="0" algn="just" rtl="0">
              <a:lnSpc>
                <a:spcPct val="100000"/>
              </a:lnSpc>
              <a:spcBef>
                <a:spcPts val="0"/>
              </a:spcBef>
              <a:spcAft>
                <a:spcPts val="0"/>
              </a:spcAft>
              <a:buNone/>
            </a:pPr>
            <a:r>
              <a:rPr lang="en-GB" sz="1400">
                <a:solidFill>
                  <a:schemeClr val="dk1"/>
                </a:solidFill>
                <a:latin typeface="Play"/>
                <a:ea typeface="Play"/>
                <a:cs typeface="Play"/>
                <a:sym typeface="Play"/>
              </a:rPr>
              <a:t>Summarization can be a crucial component in the tele-health supply chain when it comes to analyzing medical cases and routing these to the appropriate health professional.</a:t>
            </a:r>
            <a:endParaRPr sz="1400">
              <a:solidFill>
                <a:schemeClr val="dk1"/>
              </a:solidFill>
              <a:latin typeface="Play"/>
              <a:ea typeface="Play"/>
              <a:cs typeface="Play"/>
              <a:sym typeface="Play"/>
            </a:endParaRPr>
          </a:p>
          <a:p>
            <a:pPr marL="457200" lvl="0" indent="0" algn="just" rtl="0">
              <a:lnSpc>
                <a:spcPct val="100000"/>
              </a:lnSpc>
              <a:spcBef>
                <a:spcPts val="0"/>
              </a:spcBef>
              <a:spcAft>
                <a:spcPts val="0"/>
              </a:spcAft>
              <a:buNone/>
            </a:pPr>
            <a:endParaRPr sz="1400">
              <a:solidFill>
                <a:schemeClr val="dk1"/>
              </a:solidFill>
              <a:latin typeface="Play"/>
              <a:ea typeface="Play"/>
              <a:cs typeface="Play"/>
              <a:sym typeface="Play"/>
            </a:endParaRPr>
          </a:p>
          <a:p>
            <a:pPr marL="457200" lvl="0" indent="-317500" algn="just" rtl="0">
              <a:lnSpc>
                <a:spcPct val="100000"/>
              </a:lnSpc>
              <a:spcBef>
                <a:spcPts val="0"/>
              </a:spcBef>
              <a:spcAft>
                <a:spcPts val="0"/>
              </a:spcAft>
              <a:buClr>
                <a:schemeClr val="dk1"/>
              </a:buClr>
              <a:buSzPts val="1400"/>
              <a:buFont typeface="Play"/>
              <a:buChar char="●"/>
            </a:pPr>
            <a:r>
              <a:rPr lang="en-GB" sz="1400" b="1">
                <a:solidFill>
                  <a:schemeClr val="dk1"/>
                </a:solidFill>
                <a:latin typeface="Play"/>
                <a:ea typeface="Play"/>
                <a:cs typeface="Play"/>
                <a:sym typeface="Play"/>
              </a:rPr>
              <a:t>Books and Literature</a:t>
            </a:r>
            <a:endParaRPr sz="1400" b="1">
              <a:solidFill>
                <a:schemeClr val="dk1"/>
              </a:solidFill>
              <a:latin typeface="Play"/>
              <a:ea typeface="Play"/>
              <a:cs typeface="Play"/>
              <a:sym typeface="Play"/>
            </a:endParaRPr>
          </a:p>
          <a:p>
            <a:pPr marL="457200" lvl="0" indent="0" algn="just" rtl="0">
              <a:lnSpc>
                <a:spcPct val="100000"/>
              </a:lnSpc>
              <a:spcBef>
                <a:spcPts val="0"/>
              </a:spcBef>
              <a:spcAft>
                <a:spcPts val="0"/>
              </a:spcAft>
              <a:buNone/>
            </a:pPr>
            <a:r>
              <a:rPr lang="en-GB" sz="1400">
                <a:solidFill>
                  <a:schemeClr val="dk1"/>
                </a:solidFill>
                <a:latin typeface="Play"/>
                <a:ea typeface="Play"/>
                <a:cs typeface="Play"/>
                <a:sym typeface="Play"/>
              </a:rPr>
              <a:t>Summarization can help consumers quickly understand what a book is about as part of their buying process.</a:t>
            </a:r>
            <a:endParaRPr sz="1400" b="1">
              <a:solidFill>
                <a:schemeClr val="dk1"/>
              </a:solidFill>
              <a:latin typeface="Play"/>
              <a:ea typeface="Play"/>
              <a:cs typeface="Play"/>
              <a:sym typeface="Play"/>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0"/>
          <p:cNvSpPr txBox="1">
            <a:spLocks noGrp="1"/>
          </p:cNvSpPr>
          <p:nvPr>
            <p:ph type="title"/>
          </p:nvPr>
        </p:nvSpPr>
        <p:spPr>
          <a:xfrm>
            <a:off x="0" y="0"/>
            <a:ext cx="9144000" cy="7791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en-GB" sz="2500">
                <a:latin typeface="Play"/>
                <a:ea typeface="Play"/>
                <a:cs typeface="Play"/>
                <a:sym typeface="Play"/>
              </a:rPr>
              <a:t>RESULTS</a:t>
            </a:r>
            <a:endParaRPr sz="2500">
              <a:latin typeface="Play"/>
              <a:ea typeface="Play"/>
              <a:cs typeface="Play"/>
              <a:sym typeface="Play"/>
            </a:endParaRPr>
          </a:p>
          <a:p>
            <a:pPr marL="0" lvl="0" indent="0" algn="ctr" rtl="0">
              <a:spcBef>
                <a:spcPts val="0"/>
              </a:spcBef>
              <a:spcAft>
                <a:spcPts val="0"/>
              </a:spcAft>
              <a:buNone/>
            </a:pPr>
            <a:endParaRPr sz="666">
              <a:latin typeface="Play"/>
              <a:ea typeface="Play"/>
              <a:cs typeface="Play"/>
              <a:sym typeface="Play"/>
            </a:endParaRPr>
          </a:p>
          <a:p>
            <a:pPr marL="0" lvl="0" indent="0" algn="ctr" rtl="0">
              <a:spcBef>
                <a:spcPts val="0"/>
              </a:spcBef>
              <a:spcAft>
                <a:spcPts val="0"/>
              </a:spcAft>
              <a:buNone/>
            </a:pPr>
            <a:r>
              <a:rPr lang="en-GB" sz="1411">
                <a:latin typeface="Play"/>
                <a:ea typeface="Play"/>
                <a:cs typeface="Play"/>
                <a:sym typeface="Play"/>
              </a:rPr>
              <a:t>Web Application: </a:t>
            </a:r>
            <a:r>
              <a:rPr lang="en-GB" sz="1411">
                <a:solidFill>
                  <a:srgbClr val="0000FF"/>
                </a:solidFill>
                <a:latin typeface="Play"/>
                <a:ea typeface="Play"/>
                <a:cs typeface="Play"/>
                <a:sym typeface="Play"/>
              </a:rPr>
              <a:t>http://textssummarizer.herokuapp.com</a:t>
            </a:r>
            <a:endParaRPr sz="1411">
              <a:solidFill>
                <a:srgbClr val="0000FF"/>
              </a:solidFill>
              <a:latin typeface="Play"/>
              <a:ea typeface="Play"/>
              <a:cs typeface="Play"/>
              <a:sym typeface="Play"/>
            </a:endParaRPr>
          </a:p>
        </p:txBody>
      </p:sp>
      <p:pic>
        <p:nvPicPr>
          <p:cNvPr id="97" name="Google Shape;97;p20"/>
          <p:cNvPicPr preferRelativeResize="0"/>
          <p:nvPr/>
        </p:nvPicPr>
        <p:blipFill rotWithShape="1">
          <a:blip r:embed="rId3">
            <a:alphaModFix/>
          </a:blip>
          <a:srcRect l="30502" t="6792" b="28141"/>
          <a:stretch/>
        </p:blipFill>
        <p:spPr>
          <a:xfrm>
            <a:off x="1624275" y="779100"/>
            <a:ext cx="2591271" cy="4312723"/>
          </a:xfrm>
          <a:prstGeom prst="rect">
            <a:avLst/>
          </a:prstGeom>
          <a:noFill/>
          <a:ln w="9525" cap="flat" cmpd="sng">
            <a:solidFill>
              <a:schemeClr val="dk1"/>
            </a:solidFill>
            <a:prstDash val="solid"/>
            <a:round/>
            <a:headEnd type="none" w="sm" len="sm"/>
            <a:tailEnd type="none" w="sm" len="sm"/>
          </a:ln>
        </p:spPr>
      </p:pic>
      <p:pic>
        <p:nvPicPr>
          <p:cNvPr id="98" name="Google Shape;98;p20"/>
          <p:cNvPicPr preferRelativeResize="0"/>
          <p:nvPr/>
        </p:nvPicPr>
        <p:blipFill rotWithShape="1">
          <a:blip r:embed="rId4">
            <a:alphaModFix/>
          </a:blip>
          <a:srcRect l="30449" t="6691" b="33291"/>
          <a:stretch/>
        </p:blipFill>
        <p:spPr>
          <a:xfrm>
            <a:off x="4957332" y="779100"/>
            <a:ext cx="2811270" cy="4312723"/>
          </a:xfrm>
          <a:prstGeom prst="rect">
            <a:avLst/>
          </a:prstGeom>
          <a:noFill/>
          <a:ln w="9525" cap="flat" cmpd="sng">
            <a:solidFill>
              <a:schemeClr val="dk1"/>
            </a:solidFill>
            <a:prstDash val="solid"/>
            <a:round/>
            <a:headEnd type="none" w="sm" len="sm"/>
            <a:tailEnd type="none" w="sm" len="sm"/>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pic>
        <p:nvPicPr>
          <p:cNvPr id="103" name="Google Shape;103;p21"/>
          <p:cNvPicPr preferRelativeResize="0"/>
          <p:nvPr/>
        </p:nvPicPr>
        <p:blipFill>
          <a:blip r:embed="rId3">
            <a:alphaModFix/>
          </a:blip>
          <a:stretch>
            <a:fillRect/>
          </a:stretch>
        </p:blipFill>
        <p:spPr>
          <a:xfrm>
            <a:off x="1203738" y="97475"/>
            <a:ext cx="6736526" cy="4948549"/>
          </a:xfrm>
          <a:prstGeom prst="rect">
            <a:avLst/>
          </a:prstGeom>
          <a:noFill/>
          <a:ln w="9525" cap="flat" cmpd="sng">
            <a:solidFill>
              <a:schemeClr val="dk1"/>
            </a:solidFill>
            <a:prstDash val="solid"/>
            <a:round/>
            <a:headEnd type="none" w="sm" len="sm"/>
            <a:tailEnd type="none" w="sm" len="sm"/>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pic>
        <p:nvPicPr>
          <p:cNvPr id="108" name="Google Shape;108;p22"/>
          <p:cNvPicPr preferRelativeResize="0"/>
          <p:nvPr/>
        </p:nvPicPr>
        <p:blipFill>
          <a:blip r:embed="rId3">
            <a:alphaModFix/>
          </a:blip>
          <a:stretch>
            <a:fillRect/>
          </a:stretch>
        </p:blipFill>
        <p:spPr>
          <a:xfrm>
            <a:off x="551275" y="152400"/>
            <a:ext cx="8041459" cy="4838700"/>
          </a:xfrm>
          <a:prstGeom prst="rect">
            <a:avLst/>
          </a:prstGeom>
          <a:noFill/>
          <a:ln w="9525" cap="flat" cmpd="sng">
            <a:solidFill>
              <a:schemeClr val="dk1"/>
            </a:solidFill>
            <a:prstDash val="solid"/>
            <a:round/>
            <a:headEnd type="none" w="sm" len="sm"/>
            <a:tailEnd type="none" w="sm" len="sm"/>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pic>
        <p:nvPicPr>
          <p:cNvPr id="113" name="Google Shape;113;p23"/>
          <p:cNvPicPr preferRelativeResize="0"/>
          <p:nvPr/>
        </p:nvPicPr>
        <p:blipFill>
          <a:blip r:embed="rId3">
            <a:alphaModFix/>
          </a:blip>
          <a:stretch>
            <a:fillRect/>
          </a:stretch>
        </p:blipFill>
        <p:spPr>
          <a:xfrm>
            <a:off x="1043463" y="152400"/>
            <a:ext cx="7057073" cy="4838700"/>
          </a:xfrm>
          <a:prstGeom prst="rect">
            <a:avLst/>
          </a:prstGeom>
          <a:noFill/>
          <a:ln w="9525" cap="flat" cmpd="sng">
            <a:solidFill>
              <a:schemeClr val="dk1"/>
            </a:solidFill>
            <a:prstDash val="solid"/>
            <a:round/>
            <a:headEnd type="none" w="sm" len="sm"/>
            <a:tailEnd type="none" w="sm" len="sm"/>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pic>
        <p:nvPicPr>
          <p:cNvPr id="118" name="Google Shape;118;p24"/>
          <p:cNvPicPr preferRelativeResize="0"/>
          <p:nvPr/>
        </p:nvPicPr>
        <p:blipFill>
          <a:blip r:embed="rId3">
            <a:alphaModFix/>
          </a:blip>
          <a:stretch>
            <a:fillRect/>
          </a:stretch>
        </p:blipFill>
        <p:spPr>
          <a:xfrm>
            <a:off x="1075400" y="152400"/>
            <a:ext cx="6993194" cy="4838699"/>
          </a:xfrm>
          <a:prstGeom prst="rect">
            <a:avLst/>
          </a:prstGeom>
          <a:noFill/>
          <a:ln w="9525" cap="flat" cmpd="sng">
            <a:solidFill>
              <a:schemeClr val="dk1"/>
            </a:solidFill>
            <a:prstDash val="solid"/>
            <a:round/>
            <a:headEnd type="none" w="sm" len="sm"/>
            <a:tailEnd type="none" w="sm" len="sm"/>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pic>
        <p:nvPicPr>
          <p:cNvPr id="123" name="Google Shape;123;p25"/>
          <p:cNvPicPr preferRelativeResize="0"/>
          <p:nvPr/>
        </p:nvPicPr>
        <p:blipFill>
          <a:blip r:embed="rId3">
            <a:alphaModFix/>
          </a:blip>
          <a:stretch>
            <a:fillRect/>
          </a:stretch>
        </p:blipFill>
        <p:spPr>
          <a:xfrm>
            <a:off x="734225" y="152400"/>
            <a:ext cx="7675560" cy="4838700"/>
          </a:xfrm>
          <a:prstGeom prst="rect">
            <a:avLst/>
          </a:prstGeom>
          <a:noFill/>
          <a:ln w="9525" cap="flat" cmpd="sng">
            <a:solidFill>
              <a:schemeClr val="dk1"/>
            </a:solidFill>
            <a:prstDash val="solid"/>
            <a:round/>
            <a:headEnd type="none" w="sm" len="sm"/>
            <a:tailEnd type="none" w="sm" len="sm"/>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6"/>
          <p:cNvSpPr txBox="1">
            <a:spLocks noGrp="1"/>
          </p:cNvSpPr>
          <p:nvPr>
            <p:ph type="ctrTitle" idx="4294967295"/>
          </p:nvPr>
        </p:nvSpPr>
        <p:spPr>
          <a:xfrm>
            <a:off x="311708" y="1404875"/>
            <a:ext cx="8520600" cy="2052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sz="4000">
                <a:latin typeface="Play"/>
                <a:ea typeface="Play"/>
                <a:cs typeface="Play"/>
                <a:sym typeface="Play"/>
              </a:rPr>
              <a:t>THANK YOU</a:t>
            </a:r>
            <a:endParaRPr sz="4000">
              <a:latin typeface="Play"/>
              <a:ea typeface="Play"/>
              <a:cs typeface="Play"/>
              <a:sym typeface="Play"/>
            </a:endParaRPr>
          </a:p>
        </p:txBody>
      </p:sp>
      <p:sp>
        <p:nvSpPr>
          <p:cNvPr id="129" name="Google Shape;129;p26"/>
          <p:cNvSpPr txBox="1">
            <a:spLocks noGrp="1"/>
          </p:cNvSpPr>
          <p:nvPr>
            <p:ph type="subTitle" idx="4294967295"/>
          </p:nvPr>
        </p:nvSpPr>
        <p:spPr>
          <a:xfrm>
            <a:off x="311700" y="4151175"/>
            <a:ext cx="8520600" cy="784800"/>
          </a:xfrm>
          <a:prstGeom prst="rect">
            <a:avLst/>
          </a:prstGeom>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1400" dirty="0">
                <a:solidFill>
                  <a:schemeClr val="dk1"/>
                </a:solidFill>
                <a:latin typeface="Play"/>
                <a:ea typeface="Play"/>
                <a:cs typeface="Play"/>
                <a:sym typeface="Play"/>
              </a:rPr>
              <a:t>Project Title - </a:t>
            </a:r>
            <a:r>
              <a:rPr lang="en-GB" sz="1400" b="1" dirty="0">
                <a:solidFill>
                  <a:schemeClr val="dk1"/>
                </a:solidFill>
                <a:latin typeface="Play"/>
                <a:ea typeface="Play"/>
                <a:cs typeface="Play"/>
                <a:sym typeface="Play"/>
              </a:rPr>
              <a:t>Text Summarizer</a:t>
            </a:r>
            <a:endParaRPr sz="1400" b="1" dirty="0">
              <a:solidFill>
                <a:schemeClr val="dk1"/>
              </a:solidFill>
              <a:latin typeface="Play"/>
              <a:ea typeface="Play"/>
              <a:cs typeface="Play"/>
              <a:sym typeface="Play"/>
            </a:endParaRPr>
          </a:p>
          <a:p>
            <a:pPr marL="0" lvl="0" indent="0" algn="ctr" rtl="0">
              <a:lnSpc>
                <a:spcPct val="100000"/>
              </a:lnSpc>
              <a:spcBef>
                <a:spcPts val="1200"/>
              </a:spcBef>
              <a:spcAft>
                <a:spcPts val="1200"/>
              </a:spcAft>
              <a:buNone/>
            </a:pPr>
            <a:r>
              <a:rPr lang="en-GB" sz="1400" dirty="0">
                <a:solidFill>
                  <a:schemeClr val="dk1"/>
                </a:solidFill>
                <a:latin typeface="Play"/>
                <a:ea typeface="Play"/>
                <a:cs typeface="Play"/>
                <a:sym typeface="Play"/>
              </a:rPr>
              <a:t>Project Authors – </a:t>
            </a:r>
            <a:r>
              <a:rPr lang="en-GB" sz="1400" b="1" dirty="0">
                <a:solidFill>
                  <a:schemeClr val="dk1"/>
                </a:solidFill>
                <a:latin typeface="Play"/>
                <a:ea typeface="Play"/>
                <a:cs typeface="Play"/>
                <a:sym typeface="Play"/>
              </a:rPr>
              <a:t>Arghya Mishra</a:t>
            </a:r>
            <a:endParaRPr sz="1400" b="1" dirty="0">
              <a:solidFill>
                <a:schemeClr val="dk1"/>
              </a:solidFill>
              <a:latin typeface="Play"/>
              <a:ea typeface="Play"/>
              <a:cs typeface="Play"/>
              <a:sym typeface="Play"/>
            </a:endParaRPr>
          </a:p>
        </p:txBody>
      </p:sp>
    </p:spTree>
  </p:cSld>
  <p:clrMapOvr>
    <a:masterClrMapping/>
  </p:clrMapOvr>
</p:sld>
</file>

<file path=ppt/theme/theme1.xml><?xml version="1.0" encoding="utf-8"?>
<a:theme xmlns:a="http://schemas.openxmlformats.org/drawingml/2006/main"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1218</Words>
  <Application>Microsoft Office PowerPoint</Application>
  <PresentationFormat>On-screen Show (16:9)</PresentationFormat>
  <Paragraphs>75</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Play</vt:lpstr>
      <vt:lpstr>Simple Dark</vt:lpstr>
      <vt:lpstr>TEXT SUMMARIZER</vt:lpstr>
      <vt:lpstr>ABSTRACT</vt:lpstr>
      <vt:lpstr>INTRODUCTION</vt:lpstr>
      <vt:lpstr>PROBLEM STATEMENT</vt:lpstr>
      <vt:lpstr>PRESENT SOLUTIONS</vt:lpstr>
      <vt:lpstr>METHODS</vt:lpstr>
      <vt:lpstr>INDUSTRY USE CASES</vt:lpstr>
      <vt:lpstr>RESULTS  Web Application: http://textssummarizer.herokuapp.com</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Arghya  Mishra</cp:lastModifiedBy>
  <cp:revision>1</cp:revision>
  <dcterms:modified xsi:type="dcterms:W3CDTF">2026-04-15T13:27:42Z</dcterms:modified>
</cp:coreProperties>
</file>